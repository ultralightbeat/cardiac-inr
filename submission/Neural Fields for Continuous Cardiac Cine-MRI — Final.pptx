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4, and our project is Neural Fields for Continuous Cardiac Cine-MRI. The beating heart on the right is not the scan. It is drawn by our trained network: 60 moments of one heartbeat, although the scanner recorded only 30. Today we show how we store a whole heartbeat as one function, how we tested it, and what came out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cardiac MRI scan is stored as a grid. Inside a slice, one pixel is 1.6 millimetres, but the slices are 10 millimetres apart, so between them nothing is stored. One heartbeat has only 30 frames, so the motion between frames is lost. And one heartbeat takes 17 million numbers. In the cut across the slices, the heart looks like ten blocks. The real heart is smooth. Our question: can we store it as something continuous?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idea: store the heart as a function, not as a grid. A small network takes four numbers, the position x, y, z in millimetres and the moment t, and returns the brightness at that point. It is a SIREN: every neuron computes a sine. Four layers of 256 neurons, about 199 thousand weights. We train it once per patient, about 25 minutes on a laptop, and then we can ask it anywhere: between slices and between frames. We use sines because a normal ReLU network blurs fine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plain SIREN was not enough. Our own contribution is two simple changes. Left, time: with raw t the network learns the frames it saw and swings between them, only 22.7 dB on hidden frames. If we multiply t by a small number inside the model, we get 29.3 dB, plus 6.6 dB. The best value was 0.1. Right, the same problem across slices: with raw z the hidden slice is full of noise; z times 0.25 makes it smooth. Scaling one input slows the sines along that direction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real: the public ACDC dataset from the MICCAI 2017 challenge, with labels from experts. Our main patient, 051, had a heart attack: 10 slices, 30 frames, and labels of both ventricles at two moments. Patient 015, with a different disease, is our second check. The pipeline has five steps: load the scan, turn voxels into coordinates in millimetres, train, ask the network on any grid, then evaluate and build the 3D heart. One setup file installs everything, and one command runs the whole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honestly, we hide part of the scan and ask the network for it. Here the network sees only every fourth frame, the dark ones; the 21 dashed frames are hidden and scored. We also hide every second frame, or every second slice. We compare with linear interpolation between the known neighbours, and with a ReLU network of the same size. We score only hidden data, with PSNR inside the heart. Plus 10 dB means ten times smaller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one. This is frame 6, which the network never saw. Interpolation gives 25.7 dB, SIREN 26.5, and the ReLU network only a blurry shape, 21.8. Over all 21 hidden frames SIREN is 6.6 dB better than ReLU, with the same number of weights. ReLU reaches only 24.5 dB even on the frames it trained on. This is why we use sines.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two, the strong baseline: interpolation. To be honest, on average it is still a little ahead: 29.2 against our 28.9 dB, a gap of 0.4 dB. But look at the shaded part: when the heart contracts fastest, a straight line between two frames misses the motion, and SIREN wins. The two methods make different mistakes, so we averaged them with a fixed weight of one half. This blend beats interpolation: 29.7 dB, better on 18 of 21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three: compression. At the midterm we promised about 86 times fewer numbers. The same network can store only the heart region, 16 times fewer numbers, at 28.9 dB, or the whole scan, 86 times fewer, at 27.5 dB. Interpolation compresses nothing. A four times bigger network did not help, so size is not our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slices. The scanner gives ten blocks; our network, asked every 1.6 millimetres, gives a smooth heart from base to tip. When we hid every second slice, a 20 millimetre gap, no method could really fill it: all are near 20 dB. With scaled z, SIREN is level with interpolation and has no noise, and the second patient shows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result: one network trained on all frames, asked on a grid six times finer than the scanner. We build surfaces where the brightness changes from blood to muscle. On the left, the heart from outside; on the right, cut open: the cut shows the network's own image of the wall, and the red blood inside contracts. Now a short live demo. [open heart_4d.html: rotate, untick the muscle, drag the slider —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it correct? Doctors judge a heart by its ejection fraction. From our 4D model we get 49 percent for the left ventricle, experts 44; and 51 for the right, experts 53. Volumes are a bit lower, because our threshold leaves out the small muscles inside the ventricle.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sines matter, plus 6.6 dB; scaling time and slice position is our own contribution; we are level with interpolation, and the blend beats it; and from one network we get a 4D heart that agrees with the experts. Our limits: two patients, and interpolation is still slightly ahead on average. Thank you,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C1A1F"/>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C1A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C1A1F"/>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C1A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gif"/><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A"/>
        </a:solidFill>
      </p:bgPr>
    </p:bg>
    <p:spTree>
      <p:nvGrpSpPr>
        <p:cNvPr id="1" name=""/>
        <p:cNvGrpSpPr/>
        <p:nvPr/>
      </p:nvGrpSpPr>
      <p:grpSpPr>
        <a:xfrm>
          <a:off x="0" y="0"/>
          <a:ext cx="0" cy="0"/>
          <a:chOff x="0" y="0"/>
          <a:chExt cx="0" cy="0"/>
        </a:xfrm>
      </p:grpSpPr>
      <p:sp>
        <p:nvSpPr>
          <p:cNvPr id="2" name="Text 0"/>
          <p:cNvSpPr/>
          <p:nvPr/>
        </p:nvSpPr>
        <p:spPr>
          <a:xfrm>
            <a:off x="812800" y="7620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735F"/>
                </a:solidFill>
                <a:latin typeface="Arial" pitchFamily="34" charset="0"/>
                <a:ea typeface="Arial" pitchFamily="34" charset="-122"/>
                <a:cs typeface="Arial" pitchFamily="34" charset="-120"/>
              </a:rPr>
              <a:t>BEIHANG UNIVERSITY · GROUP 4 · FINAL PROJECT</a:t>
            </a:r>
            <a:endParaRPr lang="en-US" sz="1200" dirty="0"/>
          </a:p>
        </p:txBody>
      </p:sp>
      <p:sp>
        <p:nvSpPr>
          <p:cNvPr id="3" name="Text 1"/>
          <p:cNvSpPr/>
          <p:nvPr>
            <p:ph type="title"/>
          </p:nvPr>
        </p:nvSpPr>
        <p:spPr>
          <a:xfrm>
            <a:off x="812800" y="1168400"/>
            <a:ext cx="6409690" cy="19455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DE8E1"/>
                </a:solidFill>
                <a:latin typeface="Georgia" pitchFamily="18" charset="0"/>
                <a:ea typeface="Georgia" pitchFamily="18" charset="-122"/>
                <a:cs typeface="Georgia" pitchFamily="18" charset="-120"/>
              </a:rPr>
              <a:t>Neural Fields for Continuous Cardiac Cine‑MRI</a:t>
            </a:r>
            <a:endParaRPr lang="en-US" sz="4800" dirty="0"/>
          </a:p>
        </p:txBody>
      </p:sp>
      <p:sp>
        <p:nvSpPr>
          <p:cNvPr id="4" name="Text 2"/>
          <p:cNvSpPr/>
          <p:nvPr/>
        </p:nvSpPr>
        <p:spPr>
          <a:xfrm>
            <a:off x="812800" y="3302000"/>
            <a:ext cx="6148070"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9B2A8"/>
                </a:solidFill>
                <a:latin typeface="Arial" pitchFamily="34" charset="0"/>
                <a:ea typeface="Arial" pitchFamily="34" charset="-122"/>
                <a:cs typeface="Arial" pitchFamily="34" charset="-120"/>
              </a:rPr>
              <a:t>One heartbeat stored as one function </a:t>
            </a:r>
            <a:r>
              <a:rPr lang="en-US" sz="1800" dirty="0">
                <a:solidFill>
                  <a:srgbClr val="EDE8E1"/>
                </a:solidFill>
                <a:latin typeface="Arial" pitchFamily="34" charset="0"/>
                <a:ea typeface="Arial" pitchFamily="34" charset="-122"/>
                <a:cs typeface="Arial" pitchFamily="34" charset="-120"/>
              </a:rPr>
              <a:t>f(x, y, z, t)</a:t>
            </a:r>
            <a:r>
              <a:rPr lang="en-US" sz="1800" dirty="0">
                <a:solidFill>
                  <a:srgbClr val="B9B2A8"/>
                </a:solidFill>
                <a:latin typeface="Arial" pitchFamily="34" charset="0"/>
                <a:ea typeface="Arial" pitchFamily="34" charset="-122"/>
                <a:cs typeface="Arial" pitchFamily="34" charset="-120"/>
              </a:rPr>
              <a:t>: it can be asked about any point and any moment, including places the scanner never measured.</a:t>
            </a:r>
            <a:endParaRPr lang="en-US" sz="1800" dirty="0"/>
          </a:p>
        </p:txBody>
      </p:sp>
      <p:sp>
        <p:nvSpPr>
          <p:cNvPr id="5" name="Text 3"/>
          <p:cNvSpPr/>
          <p:nvPr/>
        </p:nvSpPr>
        <p:spPr>
          <a:xfrm>
            <a:off x="812800" y="4546600"/>
            <a:ext cx="654050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DE8E1"/>
                </a:solidFill>
                <a:latin typeface="Arial" pitchFamily="34" charset="0"/>
                <a:ea typeface="Arial" pitchFamily="34" charset="-122"/>
                <a:cs typeface="Arial" pitchFamily="34" charset="-120"/>
              </a:rPr>
              <a:t>Bezborodnikov Danil LS2625207 · Nikolai Kuzmichenko LS2657208</a:t>
            </a:r>
            <a:endParaRPr lang="en-US" sz="1300" dirty="0"/>
          </a:p>
          <a:p>
            <a:pPr algn="l" indent="0" marL="0">
              <a:lnSpc>
                <a:spcPts val="1950"/>
              </a:lnSpc>
              <a:buNone/>
            </a:pPr>
            <a:r>
              <a:rPr lang="en-US" sz="1300" dirty="0">
                <a:solidFill>
                  <a:srgbClr val="EDE8E1"/>
                </a:solidFill>
                <a:latin typeface="Arial" pitchFamily="34" charset="0"/>
                <a:ea typeface="Arial" pitchFamily="34" charset="-122"/>
                <a:cs typeface="Arial" pitchFamily="34" charset="-120"/>
              </a:rPr>
              <a:t>Yi Du ZY2657129 · Qingyun Yan ZY2657323</a:t>
            </a:r>
            <a:endParaRPr lang="en-US" sz="1300" dirty="0"/>
          </a:p>
          <a:p>
            <a:pPr algn="l" indent="0" marL="0">
              <a:lnSpc>
                <a:spcPts val="1950"/>
              </a:lnSpc>
              <a:buNone/>
            </a:pPr>
            <a:r>
              <a:rPr lang="en-US" sz="1300" dirty="0">
                <a:solidFill>
                  <a:srgbClr val="EDE8E1"/>
                </a:solidFill>
                <a:latin typeface="Arial" pitchFamily="34" charset="0"/>
                <a:ea typeface="Arial" pitchFamily="34" charset="-122"/>
                <a:cs typeface="Arial" pitchFamily="34" charset="-120"/>
              </a:rPr>
              <a:t>Jianxiang Liu ZY2657411</a:t>
            </a:r>
            <a:endParaRPr lang="en-US" sz="1300" dirty="0"/>
          </a:p>
        </p:txBody>
      </p:sp>
      <p:sp>
        <p:nvSpPr>
          <p:cNvPr id="6" name="Text 4"/>
          <p:cNvSpPr/>
          <p:nvPr/>
        </p:nvSpPr>
        <p:spPr>
          <a:xfrm>
            <a:off x="812800" y="55372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2A8"/>
                </a:solidFill>
                <a:latin typeface="Arial" pitchFamily="34" charset="0"/>
                <a:ea typeface="Arial" pitchFamily="34" charset="-122"/>
                <a:cs typeface="Arial" pitchFamily="34" charset="-120"/>
              </a:rPr>
              <a:t>Course instructor: Aqil Tariq · Final presentation, 2 November 2026</a:t>
            </a:r>
            <a:endParaRPr lang="en-US" sz="1200" dirty="0"/>
          </a:p>
        </p:txBody>
      </p:sp>
      <p:pic>
        <p:nvPicPr>
          <p:cNvPr id="7" name="Image 0" descr="Short-axis slice of patient 051 drawn by our neural field, beating through 60 time points although the scan has 30 frames">    </p:cNvPr>
          <p:cNvPicPr>
            <a:picLocks noChangeAspect="1"/>
          </p:cNvPicPr>
          <p:nvPr/>
        </p:nvPicPr>
        <p:blipFill>
          <a:blip r:embed="rId1"/>
          <a:srcRect l="0" r="0" t="0" b="0"/>
          <a:stretch/>
        </p:blipFill>
        <p:spPr>
          <a:xfrm>
            <a:off x="7454900" y="1181100"/>
            <a:ext cx="3911600" cy="3911600"/>
          </a:xfrm>
          <a:prstGeom prst="roundRect">
            <a:avLst>
              <a:gd name="adj" fmla="val 2922"/>
            </a:avLst>
          </a:prstGeom>
        </p:spPr>
      </p:pic>
      <p:sp>
        <p:nvSpPr>
          <p:cNvPr id="8" name="Shape 5"/>
          <p:cNvSpPr/>
          <p:nvPr/>
        </p:nvSpPr>
        <p:spPr>
          <a:xfrm>
            <a:off x="7448550" y="1174750"/>
            <a:ext cx="3924300" cy="3924300"/>
          </a:xfrm>
          <a:prstGeom prst="roundRect">
            <a:avLst>
              <a:gd name="adj" fmla="val 3074"/>
            </a:avLst>
          </a:prstGeom>
          <a:noFill/>
          <a:ln w="12700">
            <a:solidFill>
              <a:srgbClr val="3A3740"/>
            </a:solidFill>
            <a:prstDash val="solid"/>
          </a:ln>
        </p:spPr>
      </p:sp>
      <p:sp>
        <p:nvSpPr>
          <p:cNvPr id="9" name="Text 6"/>
          <p:cNvSpPr/>
          <p:nvPr/>
        </p:nvSpPr>
        <p:spPr>
          <a:xfrm>
            <a:off x="7442200" y="5232400"/>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2A8"/>
                </a:solidFill>
                <a:latin typeface="Arial" pitchFamily="34" charset="0"/>
                <a:ea typeface="Arial" pitchFamily="34" charset="-122"/>
                <a:cs typeface="Arial" pitchFamily="34" charset="-120"/>
              </a:rPr>
              <a:t>Drawn by our network: 60 moments of one heartbeat from a 30‑frame scan (ACDC patient 051).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A cine‑MRI scan is a grid with gaps</a:t>
            </a:r>
            <a:endParaRPr lang="en-US" sz="3200" dirty="0"/>
          </a:p>
        </p:txBody>
      </p:sp>
      <p:sp>
        <p:nvSpPr>
          <p:cNvPr id="4" name="Text 2"/>
          <p:cNvSpPr/>
          <p:nvPr/>
        </p:nvSpPr>
        <p:spPr>
          <a:xfrm>
            <a:off x="812800" y="2287290"/>
            <a:ext cx="640969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322A"/>
                </a:solidFill>
                <a:latin typeface="Courier New" pitchFamily="49" charset="0"/>
                <a:ea typeface="Courier New" pitchFamily="49" charset="-122"/>
                <a:cs typeface="Courier New" pitchFamily="49" charset="-120"/>
              </a:rPr>
              <a:t>10 mm</a:t>
            </a:r>
            <a:endParaRPr lang="en-US" sz="3600" dirty="0"/>
          </a:p>
        </p:txBody>
      </p:sp>
      <p:sp>
        <p:nvSpPr>
          <p:cNvPr id="5" name="Text 3"/>
          <p:cNvSpPr/>
          <p:nvPr/>
        </p:nvSpPr>
        <p:spPr>
          <a:xfrm>
            <a:off x="812800" y="2815530"/>
            <a:ext cx="640969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B4752"/>
                </a:solidFill>
                <a:latin typeface="Arial" pitchFamily="34" charset="0"/>
                <a:ea typeface="Arial" pitchFamily="34" charset="-122"/>
                <a:cs typeface="Arial" pitchFamily="34" charset="-120"/>
              </a:rPr>
              <a:t>between slices, while pixels inside a slice are 1.6 mm: nothing is stored in between.</a:t>
            </a:r>
            <a:endParaRPr lang="en-US" sz="1500" dirty="0"/>
          </a:p>
        </p:txBody>
      </p:sp>
      <p:sp>
        <p:nvSpPr>
          <p:cNvPr id="6" name="Text 4"/>
          <p:cNvSpPr/>
          <p:nvPr/>
        </p:nvSpPr>
        <p:spPr>
          <a:xfrm>
            <a:off x="812800" y="3558480"/>
            <a:ext cx="640969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322A"/>
                </a:solidFill>
                <a:latin typeface="Courier New" pitchFamily="49" charset="0"/>
                <a:ea typeface="Courier New" pitchFamily="49" charset="-122"/>
                <a:cs typeface="Courier New" pitchFamily="49" charset="-120"/>
              </a:rPr>
              <a:t>30 frames</a:t>
            </a:r>
            <a:endParaRPr lang="en-US" sz="3600" dirty="0"/>
          </a:p>
        </p:txBody>
      </p:sp>
      <p:sp>
        <p:nvSpPr>
          <p:cNvPr id="7" name="Text 5"/>
          <p:cNvSpPr/>
          <p:nvPr/>
        </p:nvSpPr>
        <p:spPr>
          <a:xfrm>
            <a:off x="812800" y="4086721"/>
            <a:ext cx="640969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B4752"/>
                </a:solidFill>
                <a:latin typeface="Arial" pitchFamily="34" charset="0"/>
                <a:ea typeface="Arial" pitchFamily="34" charset="-122"/>
                <a:cs typeface="Arial" pitchFamily="34" charset="-120"/>
              </a:rPr>
              <a:t>per heartbeat: the motion between two frames is lost.</a:t>
            </a:r>
            <a:endParaRPr lang="en-US" sz="1500" dirty="0"/>
          </a:p>
        </p:txBody>
      </p:sp>
      <p:sp>
        <p:nvSpPr>
          <p:cNvPr id="8" name="Text 6"/>
          <p:cNvSpPr/>
          <p:nvPr/>
        </p:nvSpPr>
        <p:spPr>
          <a:xfrm>
            <a:off x="812800" y="4572496"/>
            <a:ext cx="640969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322A"/>
                </a:solidFill>
                <a:latin typeface="Courier New" pitchFamily="49" charset="0"/>
                <a:ea typeface="Courier New" pitchFamily="49" charset="-122"/>
                <a:cs typeface="Courier New" pitchFamily="49" charset="-120"/>
              </a:rPr>
              <a:t>17.2 M</a:t>
            </a:r>
            <a:endParaRPr lang="en-US" sz="3600" dirty="0"/>
          </a:p>
        </p:txBody>
      </p:sp>
      <p:sp>
        <p:nvSpPr>
          <p:cNvPr id="9" name="Text 7"/>
          <p:cNvSpPr/>
          <p:nvPr/>
        </p:nvSpPr>
        <p:spPr>
          <a:xfrm>
            <a:off x="812800" y="5100737"/>
            <a:ext cx="640969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B4752"/>
                </a:solidFill>
                <a:latin typeface="Arial" pitchFamily="34" charset="0"/>
                <a:ea typeface="Arial" pitchFamily="34" charset="-122"/>
                <a:cs typeface="Arial" pitchFamily="34" charset="-120"/>
              </a:rPr>
              <a:t>numbers for one heartbeat (224 × 256 × 10 slices × 30 frames).</a:t>
            </a:r>
            <a:endParaRPr lang="en-US" sz="1500" dirty="0"/>
          </a:p>
        </p:txBody>
      </p:sp>
      <p:pic>
        <p:nvPicPr>
          <p:cNvPr id="10" name="Image 0" descr="Scanner short-axis slice 3 of 10, near the base">    </p:cNvPr>
          <p:cNvPicPr>
            <a:picLocks noChangeAspect="1"/>
          </p:cNvPicPr>
          <p:nvPr/>
        </p:nvPicPr>
        <p:blipFill>
          <a:blip r:embed="rId1"/>
          <a:srcRect l="0" r="0" t="0" b="0"/>
          <a:stretch/>
        </p:blipFill>
        <p:spPr>
          <a:xfrm>
            <a:off x="7442200" y="1803301"/>
            <a:ext cx="1244600" cy="1244600"/>
          </a:xfrm>
          <a:prstGeom prst="roundRect">
            <a:avLst>
              <a:gd name="adj" fmla="val 5102"/>
            </a:avLst>
          </a:prstGeom>
        </p:spPr>
      </p:pic>
      <p:pic>
        <p:nvPicPr>
          <p:cNvPr id="11" name="Image 1" descr="Scanner short-axis slice 6 of 10, mid ventricle">    </p:cNvPr>
          <p:cNvPicPr>
            <a:picLocks noChangeAspect="1"/>
          </p:cNvPicPr>
          <p:nvPr/>
        </p:nvPicPr>
        <p:blipFill>
          <a:blip r:embed="rId2"/>
          <a:srcRect l="0" r="0" t="0" b="0"/>
          <a:stretch/>
        </p:blipFill>
        <p:spPr>
          <a:xfrm>
            <a:off x="8788400" y="1803301"/>
            <a:ext cx="1244600" cy="1244600"/>
          </a:xfrm>
          <a:prstGeom prst="roundRect">
            <a:avLst>
              <a:gd name="adj" fmla="val 5102"/>
            </a:avLst>
          </a:prstGeom>
        </p:spPr>
      </p:pic>
      <p:pic>
        <p:nvPicPr>
          <p:cNvPr id="12" name="Image 2" descr="Scanner short-axis slice 9 of 10, near the apex">    </p:cNvPr>
          <p:cNvPicPr>
            <a:picLocks noChangeAspect="1"/>
          </p:cNvPicPr>
          <p:nvPr/>
        </p:nvPicPr>
        <p:blipFill>
          <a:blip r:embed="rId3"/>
          <a:srcRect l="0" r="0" t="0" b="0"/>
          <a:stretch/>
        </p:blipFill>
        <p:spPr>
          <a:xfrm>
            <a:off x="10134600" y="1803301"/>
            <a:ext cx="1244600" cy="1244600"/>
          </a:xfrm>
          <a:prstGeom prst="roundRect">
            <a:avLst>
              <a:gd name="adj" fmla="val 5102"/>
            </a:avLst>
          </a:prstGeom>
        </p:spPr>
      </p:pic>
      <p:sp>
        <p:nvSpPr>
          <p:cNvPr id="13" name="Text 8"/>
          <p:cNvSpPr/>
          <p:nvPr/>
        </p:nvSpPr>
        <p:spPr>
          <a:xfrm>
            <a:off x="7442200" y="3070126"/>
            <a:ext cx="4055110" cy="22949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6A6570"/>
                </a:solidFill>
                <a:latin typeface="Arial" pitchFamily="34" charset="0"/>
                <a:ea typeface="Arial" pitchFamily="34" charset="-122"/>
                <a:cs typeface="Arial" pitchFamily="34" charset="-120"/>
              </a:rPr>
              <a:t>Three of the 10 short‑axis slices (patient 051).</a:t>
            </a:r>
            <a:endParaRPr lang="en-US" sz="1159" dirty="0"/>
          </a:p>
        </p:txBody>
      </p:sp>
      <p:pic>
        <p:nvPicPr>
          <p:cNvPr id="14" name="Image 3" descr="Cut across all 10 slices of the scanner: the heart appears as horizontal blocks 10 mm tall">    </p:cNvPr>
          <p:cNvPicPr>
            <a:picLocks noChangeAspect="1"/>
          </p:cNvPicPr>
          <p:nvPr/>
        </p:nvPicPr>
        <p:blipFill>
          <a:blip r:embed="rId4"/>
          <a:stretch>
            <a:fillRect/>
          </a:stretch>
        </p:blipFill>
        <p:spPr>
          <a:xfrm>
            <a:off x="7525667" y="3350419"/>
            <a:ext cx="3770065" cy="2211288"/>
          </a:xfrm>
          <a:prstGeom prst="rect">
            <a:avLst/>
          </a:prstGeom>
        </p:spPr>
      </p:pic>
      <p:sp>
        <p:nvSpPr>
          <p:cNvPr id="15" name="Text 9"/>
          <p:cNvSpPr/>
          <p:nvPr/>
        </p:nvSpPr>
        <p:spPr>
          <a:xfrm>
            <a:off x="7442200" y="5637907"/>
            <a:ext cx="4055110" cy="22949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6A6570"/>
                </a:solidFill>
                <a:latin typeface="Arial" pitchFamily="34" charset="0"/>
                <a:ea typeface="Arial" pitchFamily="34" charset="-122"/>
                <a:cs typeface="Arial" pitchFamily="34" charset="-120"/>
              </a:rPr>
              <a:t>A cut across the slices: the heart as 10 blocks.</a:t>
            </a:r>
            <a:endParaRPr lang="en-US" sz="1159" dirty="0"/>
          </a:p>
        </p:txBody>
      </p:sp>
      <p:sp>
        <p:nvSpPr>
          <p:cNvPr id="16"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17"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5D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THE IDEA</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Store the heart as a function, not as a grid</a:t>
            </a:r>
            <a:endParaRPr lang="en-US" sz="3200" dirty="0"/>
          </a:p>
        </p:txBody>
      </p:sp>
      <p:sp>
        <p:nvSpPr>
          <p:cNvPr id="4" name="Shape 2"/>
          <p:cNvSpPr/>
          <p:nvPr/>
        </p:nvSpPr>
        <p:spPr>
          <a:xfrm>
            <a:off x="815975" y="1908076"/>
            <a:ext cx="2789238" cy="1735931"/>
          </a:xfrm>
          <a:prstGeom prst="roundRect">
            <a:avLst>
              <a:gd name="adj" fmla="val 5670"/>
            </a:avLst>
          </a:prstGeom>
          <a:solidFill>
            <a:srgbClr val="F4F1EC"/>
          </a:solidFill>
          <a:ln w="6350">
            <a:solidFill>
              <a:srgbClr val="D6CFC4"/>
            </a:solidFill>
            <a:prstDash val="solid"/>
          </a:ln>
        </p:spPr>
      </p:sp>
      <p:sp>
        <p:nvSpPr>
          <p:cNvPr id="5" name="Text 3"/>
          <p:cNvSpPr/>
          <p:nvPr/>
        </p:nvSpPr>
        <p:spPr>
          <a:xfrm>
            <a:off x="1047750" y="2139851"/>
            <a:ext cx="23954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6570"/>
                </a:solidFill>
                <a:latin typeface="Arial" pitchFamily="34" charset="0"/>
                <a:ea typeface="Arial" pitchFamily="34" charset="-122"/>
                <a:cs typeface="Arial" pitchFamily="34" charset="-120"/>
              </a:rPr>
              <a:t>INPUT</a:t>
            </a:r>
            <a:endParaRPr lang="en-US" sz="1200" dirty="0"/>
          </a:p>
        </p:txBody>
      </p:sp>
      <p:sp>
        <p:nvSpPr>
          <p:cNvPr id="6" name="Text 4"/>
          <p:cNvSpPr/>
          <p:nvPr/>
        </p:nvSpPr>
        <p:spPr>
          <a:xfrm>
            <a:off x="1047750" y="2429371"/>
            <a:ext cx="239545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C1A1F"/>
                </a:solidFill>
                <a:latin typeface="Courier New" pitchFamily="49" charset="0"/>
                <a:ea typeface="Courier New" pitchFamily="49" charset="-122"/>
                <a:cs typeface="Courier New" pitchFamily="49" charset="-120"/>
              </a:rPr>
              <a:t>(x, y, z, t)</a:t>
            </a:r>
            <a:endParaRPr lang="en-US" sz="2400" dirty="0"/>
          </a:p>
        </p:txBody>
      </p:sp>
      <p:sp>
        <p:nvSpPr>
          <p:cNvPr id="7" name="Text 5"/>
          <p:cNvSpPr/>
          <p:nvPr/>
        </p:nvSpPr>
        <p:spPr>
          <a:xfrm>
            <a:off x="1047750" y="2932212"/>
            <a:ext cx="239545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4752"/>
                </a:solidFill>
                <a:latin typeface="Arial" pitchFamily="34" charset="0"/>
                <a:ea typeface="Arial" pitchFamily="34" charset="-122"/>
                <a:cs typeface="Arial" pitchFamily="34" charset="-120"/>
              </a:rPr>
              <a:t>a position in millimetres and a moment of the heartbeat</a:t>
            </a:r>
            <a:endParaRPr lang="en-US" sz="1400" dirty="0"/>
          </a:p>
        </p:txBody>
      </p:sp>
      <p:pic>
        <p:nvPicPr>
          <p:cNvPr id="8" name="Image 0" descr="arrow-right">    </p:cNvPr>
          <p:cNvPicPr>
            <a:picLocks noChangeAspect="1"/>
          </p:cNvPicPr>
          <p:nvPr/>
        </p:nvPicPr>
        <p:blipFill>
          <a:blip r:embed="rId1"/>
          <a:srcRect l="0" r="0" t="0" b="0"/>
          <a:stretch/>
        </p:blipFill>
        <p:spPr>
          <a:xfrm>
            <a:off x="3760788" y="2623641"/>
            <a:ext cx="558800" cy="304800"/>
          </a:xfrm>
          <a:prstGeom prst="rect">
            <a:avLst/>
          </a:prstGeom>
        </p:spPr>
      </p:pic>
      <p:sp>
        <p:nvSpPr>
          <p:cNvPr id="9" name="Shape 6"/>
          <p:cNvSpPr/>
          <p:nvPr/>
        </p:nvSpPr>
        <p:spPr>
          <a:xfrm>
            <a:off x="4471988" y="1946771"/>
            <a:ext cx="3248025" cy="1658541"/>
          </a:xfrm>
          <a:prstGeom prst="roundRect">
            <a:avLst>
              <a:gd name="adj" fmla="val 6126"/>
            </a:avLst>
          </a:prstGeom>
          <a:solidFill>
            <a:srgbClr val="1C1A1F"/>
          </a:solidFill>
          <a:ln/>
        </p:spPr>
      </p:sp>
      <p:sp>
        <p:nvSpPr>
          <p:cNvPr id="10" name="Text 7"/>
          <p:cNvSpPr/>
          <p:nvPr/>
        </p:nvSpPr>
        <p:spPr>
          <a:xfrm>
            <a:off x="4700588" y="2175371"/>
            <a:ext cx="28745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35F"/>
                </a:solidFill>
                <a:latin typeface="Arial" pitchFamily="34" charset="0"/>
                <a:ea typeface="Arial" pitchFamily="34" charset="-122"/>
                <a:cs typeface="Arial" pitchFamily="34" charset="-120"/>
              </a:rPr>
              <a:t>SIREN NETWORK</a:t>
            </a:r>
            <a:endParaRPr lang="en-US" sz="1200" dirty="0"/>
          </a:p>
        </p:txBody>
      </p:sp>
      <p:sp>
        <p:nvSpPr>
          <p:cNvPr id="11" name="Text 8"/>
          <p:cNvSpPr/>
          <p:nvPr/>
        </p:nvSpPr>
        <p:spPr>
          <a:xfrm>
            <a:off x="4700588" y="2464891"/>
            <a:ext cx="301942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DE8E1"/>
                </a:solidFill>
                <a:latin typeface="Courier New" pitchFamily="49" charset="0"/>
                <a:ea typeface="Courier New" pitchFamily="49" charset="-122"/>
                <a:cs typeface="Courier New" pitchFamily="49" charset="-120"/>
              </a:rPr>
              <a:t>sin(30 · (Wx + b))</a:t>
            </a:r>
            <a:endParaRPr lang="en-US" sz="2000" dirty="0"/>
          </a:p>
        </p:txBody>
      </p:sp>
      <p:sp>
        <p:nvSpPr>
          <p:cNvPr id="12" name="Text 9"/>
          <p:cNvSpPr/>
          <p:nvPr/>
        </p:nvSpPr>
        <p:spPr>
          <a:xfrm>
            <a:off x="4700588" y="2896691"/>
            <a:ext cx="28745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8D2C9"/>
                </a:solidFill>
                <a:latin typeface="Arial" pitchFamily="34" charset="0"/>
                <a:ea typeface="Arial" pitchFamily="34" charset="-122"/>
                <a:cs typeface="Arial" pitchFamily="34" charset="-120"/>
              </a:rPr>
              <a:t>4 layers × 256 sine neurons, 198,913 weights</a:t>
            </a:r>
            <a:endParaRPr lang="en-US" sz="1400" dirty="0"/>
          </a:p>
        </p:txBody>
      </p:sp>
      <p:pic>
        <p:nvPicPr>
          <p:cNvPr id="13" name="Image 1" descr="arrow-right">    </p:cNvPr>
          <p:cNvPicPr>
            <a:picLocks noChangeAspect="1"/>
          </p:cNvPicPr>
          <p:nvPr/>
        </p:nvPicPr>
        <p:blipFill>
          <a:blip r:embed="rId2"/>
          <a:srcRect l="0" r="0" t="0" b="0"/>
          <a:stretch/>
        </p:blipFill>
        <p:spPr>
          <a:xfrm>
            <a:off x="7872413" y="2623641"/>
            <a:ext cx="558800" cy="304800"/>
          </a:xfrm>
          <a:prstGeom prst="rect">
            <a:avLst/>
          </a:prstGeom>
        </p:spPr>
      </p:pic>
      <p:sp>
        <p:nvSpPr>
          <p:cNvPr id="14" name="Shape 10"/>
          <p:cNvSpPr/>
          <p:nvPr/>
        </p:nvSpPr>
        <p:spPr>
          <a:xfrm>
            <a:off x="8586788" y="1908076"/>
            <a:ext cx="2789238" cy="1735931"/>
          </a:xfrm>
          <a:prstGeom prst="roundRect">
            <a:avLst>
              <a:gd name="adj" fmla="val 5670"/>
            </a:avLst>
          </a:prstGeom>
          <a:solidFill>
            <a:srgbClr val="F4F1EC"/>
          </a:solidFill>
          <a:ln w="6350">
            <a:solidFill>
              <a:srgbClr val="D6CFC4"/>
            </a:solidFill>
            <a:prstDash val="solid"/>
          </a:ln>
        </p:spPr>
      </p:sp>
      <p:sp>
        <p:nvSpPr>
          <p:cNvPr id="15" name="Text 11"/>
          <p:cNvSpPr/>
          <p:nvPr/>
        </p:nvSpPr>
        <p:spPr>
          <a:xfrm>
            <a:off x="8818563" y="2139851"/>
            <a:ext cx="23954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6570"/>
                </a:solidFill>
                <a:latin typeface="Arial" pitchFamily="34" charset="0"/>
                <a:ea typeface="Arial" pitchFamily="34" charset="-122"/>
                <a:cs typeface="Arial" pitchFamily="34" charset="-120"/>
              </a:rPr>
              <a:t>OUTPUT</a:t>
            </a:r>
            <a:endParaRPr lang="en-US" sz="1200" dirty="0"/>
          </a:p>
        </p:txBody>
      </p:sp>
      <p:sp>
        <p:nvSpPr>
          <p:cNvPr id="16" name="Text 12"/>
          <p:cNvSpPr/>
          <p:nvPr/>
        </p:nvSpPr>
        <p:spPr>
          <a:xfrm>
            <a:off x="8818563" y="2429371"/>
            <a:ext cx="2395458"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C1A1F"/>
                </a:solidFill>
                <a:latin typeface="Courier New" pitchFamily="49" charset="0"/>
                <a:ea typeface="Courier New" pitchFamily="49" charset="-122"/>
                <a:cs typeface="Courier New" pitchFamily="49" charset="-120"/>
              </a:rPr>
              <a:t>intensity</a:t>
            </a:r>
            <a:endParaRPr lang="en-US" sz="2400" dirty="0"/>
          </a:p>
        </p:txBody>
      </p:sp>
      <p:sp>
        <p:nvSpPr>
          <p:cNvPr id="17" name="Text 13"/>
          <p:cNvSpPr/>
          <p:nvPr/>
        </p:nvSpPr>
        <p:spPr>
          <a:xfrm>
            <a:off x="8818563" y="2932212"/>
            <a:ext cx="239545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4752"/>
                </a:solidFill>
                <a:latin typeface="Arial" pitchFamily="34" charset="0"/>
                <a:ea typeface="Arial" pitchFamily="34" charset="-122"/>
                <a:cs typeface="Arial" pitchFamily="34" charset="-120"/>
              </a:rPr>
              <a:t>the image brightness at exactly that point</a:t>
            </a:r>
            <a:endParaRPr lang="en-US" sz="1400" dirty="0"/>
          </a:p>
        </p:txBody>
      </p:sp>
      <p:sp>
        <p:nvSpPr>
          <p:cNvPr id="18" name="Shape 14"/>
          <p:cNvSpPr/>
          <p:nvPr/>
        </p:nvSpPr>
        <p:spPr>
          <a:xfrm>
            <a:off x="812800" y="4015482"/>
            <a:ext cx="3386634" cy="0"/>
          </a:xfrm>
          <a:prstGeom prst="line">
            <a:avLst/>
          </a:prstGeom>
          <a:noFill/>
          <a:ln w="25400">
            <a:solidFill>
              <a:srgbClr val="1C1A1F"/>
            </a:solidFill>
            <a:prstDash val="solid"/>
          </a:ln>
        </p:spPr>
      </p:sp>
      <p:sp>
        <p:nvSpPr>
          <p:cNvPr id="19" name="Text 15"/>
          <p:cNvSpPr/>
          <p:nvPr/>
        </p:nvSpPr>
        <p:spPr>
          <a:xfrm>
            <a:off x="812800" y="4180582"/>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Train once per patient</a:t>
            </a:r>
            <a:endParaRPr lang="en-US" sz="1600" dirty="0"/>
          </a:p>
        </p:txBody>
      </p:sp>
      <p:sp>
        <p:nvSpPr>
          <p:cNvPr id="20" name="Text 16"/>
          <p:cNvSpPr/>
          <p:nvPr/>
        </p:nvSpPr>
        <p:spPr>
          <a:xfrm>
            <a:off x="812800" y="4487863"/>
            <a:ext cx="34882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4752"/>
                </a:solidFill>
                <a:latin typeface="Arial" pitchFamily="34" charset="0"/>
                <a:ea typeface="Arial" pitchFamily="34" charset="-122"/>
                <a:cs typeface="Arial" pitchFamily="34" charset="-120"/>
              </a:rPr>
              <a:t>on the measured voxels only; about 25 minutes on a laptop CPU.</a:t>
            </a:r>
            <a:endParaRPr lang="en-US" sz="1400" dirty="0"/>
          </a:p>
        </p:txBody>
      </p:sp>
      <p:sp>
        <p:nvSpPr>
          <p:cNvPr id="21" name="Shape 17"/>
          <p:cNvSpPr/>
          <p:nvPr/>
        </p:nvSpPr>
        <p:spPr>
          <a:xfrm>
            <a:off x="4402634" y="4015482"/>
            <a:ext cx="3386733" cy="0"/>
          </a:xfrm>
          <a:prstGeom prst="line">
            <a:avLst/>
          </a:prstGeom>
          <a:noFill/>
          <a:ln w="25400">
            <a:solidFill>
              <a:srgbClr val="B8322A"/>
            </a:solidFill>
            <a:prstDash val="solid"/>
          </a:ln>
        </p:spPr>
      </p:sp>
      <p:sp>
        <p:nvSpPr>
          <p:cNvPr id="22" name="Text 18"/>
          <p:cNvSpPr/>
          <p:nvPr/>
        </p:nvSpPr>
        <p:spPr>
          <a:xfrm>
            <a:off x="4402634" y="4180582"/>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Then ask anywhere</a:t>
            </a:r>
            <a:endParaRPr lang="en-US" sz="1600" dirty="0"/>
          </a:p>
        </p:txBody>
      </p:sp>
      <p:sp>
        <p:nvSpPr>
          <p:cNvPr id="23" name="Text 19"/>
          <p:cNvSpPr/>
          <p:nvPr/>
        </p:nvSpPr>
        <p:spPr>
          <a:xfrm>
            <a:off x="4402634" y="4487863"/>
            <a:ext cx="348833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4752"/>
                </a:solidFill>
                <a:latin typeface="Arial" pitchFamily="34" charset="0"/>
                <a:ea typeface="Arial" pitchFamily="34" charset="-122"/>
                <a:cs typeface="Arial" pitchFamily="34" charset="-120"/>
              </a:rPr>
              <a:t>between slices, between frames, on any grid we choose.</a:t>
            </a:r>
            <a:endParaRPr lang="en-US" sz="1400" dirty="0"/>
          </a:p>
        </p:txBody>
      </p:sp>
      <p:sp>
        <p:nvSpPr>
          <p:cNvPr id="24" name="Shape 20"/>
          <p:cNvSpPr/>
          <p:nvPr/>
        </p:nvSpPr>
        <p:spPr>
          <a:xfrm>
            <a:off x="7992566" y="4015482"/>
            <a:ext cx="3386634" cy="0"/>
          </a:xfrm>
          <a:prstGeom prst="line">
            <a:avLst/>
          </a:prstGeom>
          <a:noFill/>
          <a:ln w="25400">
            <a:solidFill>
              <a:srgbClr val="2F6690"/>
            </a:solidFill>
            <a:prstDash val="solid"/>
          </a:ln>
        </p:spPr>
      </p:sp>
      <p:sp>
        <p:nvSpPr>
          <p:cNvPr id="25" name="Text 21"/>
          <p:cNvSpPr/>
          <p:nvPr/>
        </p:nvSpPr>
        <p:spPr>
          <a:xfrm>
            <a:off x="7992566" y="4180582"/>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Why sines</a:t>
            </a:r>
            <a:endParaRPr lang="en-US" sz="1600" dirty="0"/>
          </a:p>
        </p:txBody>
      </p:sp>
      <p:sp>
        <p:nvSpPr>
          <p:cNvPr id="26" name="Text 22"/>
          <p:cNvSpPr/>
          <p:nvPr/>
        </p:nvSpPr>
        <p:spPr>
          <a:xfrm>
            <a:off x="7992566" y="4487863"/>
            <a:ext cx="34882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4752"/>
                </a:solidFill>
                <a:latin typeface="Arial" pitchFamily="34" charset="0"/>
                <a:ea typeface="Arial" pitchFamily="34" charset="-122"/>
                <a:cs typeface="Arial" pitchFamily="34" charset="-120"/>
              </a:rPr>
              <a:t>a ReLU network blurs fine detail; SIREN keeps it (Sitzmann et al., 2020).</a:t>
            </a:r>
            <a:endParaRPr lang="en-US" sz="1400" dirty="0"/>
          </a:p>
        </p:txBody>
      </p:sp>
      <p:sp>
        <p:nvSpPr>
          <p:cNvPr id="27"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28"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3" name="Text 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4</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OUR CONTRIBUTION</a:t>
            </a:r>
            <a:endParaRPr lang="en-US" sz="1200" dirty="0"/>
          </a:p>
        </p:txBody>
      </p:sp>
      <p:sp>
        <p:nvSpPr>
          <p:cNvPr id="5" name="Text 3"/>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Slow the sines down along time and across slices</a:t>
            </a:r>
            <a:endParaRPr lang="en-US" sz="3200" dirty="0"/>
          </a:p>
        </p:txBody>
      </p:sp>
      <p:sp>
        <p:nvSpPr>
          <p:cNvPr id="6" name="Shape 4"/>
          <p:cNvSpPr/>
          <p:nvPr/>
        </p:nvSpPr>
        <p:spPr>
          <a:xfrm>
            <a:off x="815975" y="1806575"/>
            <a:ext cx="5581650" cy="3549650"/>
          </a:xfrm>
          <a:prstGeom prst="roundRect">
            <a:avLst>
              <a:gd name="adj" fmla="val 2773"/>
            </a:avLst>
          </a:prstGeom>
          <a:solidFill>
            <a:srgbClr val="FBF9F5"/>
          </a:solidFill>
          <a:ln w="6350">
            <a:solidFill>
              <a:srgbClr val="DDD6CB"/>
            </a:solidFill>
            <a:prstDash val="solid"/>
          </a:ln>
        </p:spPr>
      </p:sp>
      <p:sp>
        <p:nvSpPr>
          <p:cNvPr id="7" name="Text 5"/>
          <p:cNvSpPr/>
          <p:nvPr/>
        </p:nvSpPr>
        <p:spPr>
          <a:xfrm>
            <a:off x="1047750" y="2038350"/>
            <a:ext cx="527164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A1F"/>
                </a:solidFill>
                <a:latin typeface="Arial" pitchFamily="34" charset="0"/>
                <a:ea typeface="Arial" pitchFamily="34" charset="-122"/>
                <a:cs typeface="Arial" pitchFamily="34" charset="-120"/>
              </a:rPr>
              <a:t>Time enters as t × 0.1</a:t>
            </a:r>
            <a:endParaRPr lang="en-US" sz="1800" dirty="0"/>
          </a:p>
        </p:txBody>
      </p:sp>
      <p:sp>
        <p:nvSpPr>
          <p:cNvPr id="8" name="Text 6"/>
          <p:cNvSpPr/>
          <p:nvPr/>
        </p:nvSpPr>
        <p:spPr>
          <a:xfrm>
            <a:off x="1047750" y="2426891"/>
            <a:ext cx="52716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Hidden frames, PSNR in the heart (dB)</a:t>
            </a:r>
            <a:endParaRPr lang="en-US" sz="1200" dirty="0"/>
          </a:p>
        </p:txBody>
      </p:sp>
      <p:sp>
        <p:nvSpPr>
          <p:cNvPr id="9" name="Text 7"/>
          <p:cNvSpPr/>
          <p:nvPr/>
        </p:nvSpPr>
        <p:spPr>
          <a:xfrm>
            <a:off x="1047750" y="2778621"/>
            <a:ext cx="1257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raw t</a:t>
            </a:r>
            <a:endParaRPr lang="en-US" sz="1300" dirty="0"/>
          </a:p>
        </p:txBody>
      </p:sp>
      <p:sp>
        <p:nvSpPr>
          <p:cNvPr id="10" name="Shape 8"/>
          <p:cNvSpPr/>
          <p:nvPr/>
        </p:nvSpPr>
        <p:spPr>
          <a:xfrm>
            <a:off x="2355850" y="2754511"/>
            <a:ext cx="2476500" cy="279400"/>
          </a:xfrm>
          <a:prstGeom prst="roundRect">
            <a:avLst>
              <a:gd name="adj" fmla="val 13636"/>
            </a:avLst>
          </a:prstGeom>
          <a:solidFill>
            <a:srgbClr val="C9C2B8"/>
          </a:solidFill>
          <a:ln/>
        </p:spPr>
      </p:sp>
      <p:sp>
        <p:nvSpPr>
          <p:cNvPr id="11" name="Text 9"/>
          <p:cNvSpPr/>
          <p:nvPr/>
        </p:nvSpPr>
        <p:spPr>
          <a:xfrm>
            <a:off x="4933950" y="2769791"/>
            <a:ext cx="5122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F"/>
                </a:solidFill>
                <a:latin typeface="Courier New" pitchFamily="49" charset="0"/>
                <a:ea typeface="Courier New" pitchFamily="49" charset="-122"/>
                <a:cs typeface="Courier New" pitchFamily="49" charset="-120"/>
              </a:rPr>
              <a:t>22.7</a:t>
            </a:r>
            <a:endParaRPr lang="en-US" sz="1400" dirty="0"/>
          </a:p>
        </p:txBody>
      </p:sp>
      <p:sp>
        <p:nvSpPr>
          <p:cNvPr id="12" name="Text 10"/>
          <p:cNvSpPr/>
          <p:nvPr/>
        </p:nvSpPr>
        <p:spPr>
          <a:xfrm>
            <a:off x="1047750" y="3146921"/>
            <a:ext cx="1257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sin / cos</a:t>
            </a:r>
            <a:endParaRPr lang="en-US" sz="1300" dirty="0"/>
          </a:p>
        </p:txBody>
      </p:sp>
      <p:sp>
        <p:nvSpPr>
          <p:cNvPr id="13" name="Shape 11"/>
          <p:cNvSpPr/>
          <p:nvPr/>
        </p:nvSpPr>
        <p:spPr>
          <a:xfrm>
            <a:off x="2355850" y="3122811"/>
            <a:ext cx="3086100" cy="279400"/>
          </a:xfrm>
          <a:prstGeom prst="roundRect">
            <a:avLst>
              <a:gd name="adj" fmla="val 13636"/>
            </a:avLst>
          </a:prstGeom>
          <a:solidFill>
            <a:srgbClr val="C9C2B8"/>
          </a:solidFill>
          <a:ln/>
        </p:spPr>
      </p:sp>
      <p:sp>
        <p:nvSpPr>
          <p:cNvPr id="14" name="Text 12"/>
          <p:cNvSpPr/>
          <p:nvPr/>
        </p:nvSpPr>
        <p:spPr>
          <a:xfrm>
            <a:off x="5543550" y="3138091"/>
            <a:ext cx="5122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F"/>
                </a:solidFill>
                <a:latin typeface="Courier New" pitchFamily="49" charset="0"/>
                <a:ea typeface="Courier New" pitchFamily="49" charset="-122"/>
                <a:cs typeface="Courier New" pitchFamily="49" charset="-120"/>
              </a:rPr>
              <a:t>28.9</a:t>
            </a:r>
            <a:endParaRPr lang="en-US" sz="1400" dirty="0"/>
          </a:p>
        </p:txBody>
      </p:sp>
      <p:sp>
        <p:nvSpPr>
          <p:cNvPr id="15" name="Text 13"/>
          <p:cNvSpPr/>
          <p:nvPr/>
        </p:nvSpPr>
        <p:spPr>
          <a:xfrm>
            <a:off x="1047750" y="3515221"/>
            <a:ext cx="1257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22A"/>
                </a:solidFill>
                <a:latin typeface="Arial" pitchFamily="34" charset="0"/>
                <a:ea typeface="Arial" pitchFamily="34" charset="-122"/>
                <a:cs typeface="Arial" pitchFamily="34" charset="-120"/>
              </a:rPr>
              <a:t>scaled t</a:t>
            </a:r>
            <a:endParaRPr lang="en-US" sz="1300" dirty="0"/>
          </a:p>
        </p:txBody>
      </p:sp>
      <p:sp>
        <p:nvSpPr>
          <p:cNvPr id="16" name="Shape 14"/>
          <p:cNvSpPr/>
          <p:nvPr/>
        </p:nvSpPr>
        <p:spPr>
          <a:xfrm>
            <a:off x="2355850" y="3491111"/>
            <a:ext cx="3136900" cy="279400"/>
          </a:xfrm>
          <a:prstGeom prst="roundRect">
            <a:avLst>
              <a:gd name="adj" fmla="val 13636"/>
            </a:avLst>
          </a:prstGeom>
          <a:solidFill>
            <a:srgbClr val="B8322A"/>
          </a:solidFill>
          <a:ln/>
        </p:spPr>
      </p:sp>
      <p:sp>
        <p:nvSpPr>
          <p:cNvPr id="17" name="Text 15"/>
          <p:cNvSpPr/>
          <p:nvPr/>
        </p:nvSpPr>
        <p:spPr>
          <a:xfrm>
            <a:off x="5594350" y="3506391"/>
            <a:ext cx="5122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322A"/>
                </a:solidFill>
                <a:latin typeface="Courier New" pitchFamily="49" charset="0"/>
                <a:ea typeface="Courier New" pitchFamily="49" charset="-122"/>
                <a:cs typeface="Courier New" pitchFamily="49" charset="-120"/>
              </a:rPr>
              <a:t>29.3</a:t>
            </a:r>
            <a:endParaRPr lang="en-US" sz="1400" dirty="0"/>
          </a:p>
        </p:txBody>
      </p:sp>
      <p:sp>
        <p:nvSpPr>
          <p:cNvPr id="18" name="Text 16"/>
          <p:cNvSpPr/>
          <p:nvPr/>
        </p:nvSpPr>
        <p:spPr>
          <a:xfrm>
            <a:off x="1047750" y="3884811"/>
            <a:ext cx="527164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+6.6 dB only from how time enters. Scale sweep with every 4th frame kept: 0.25 → 28.2, </a:t>
            </a:r>
            <a:r>
              <a:rPr lang="en-US" sz="1300" b="1" dirty="0">
                <a:solidFill>
                  <a:srgbClr val="4B4752"/>
                </a:solidFill>
                <a:latin typeface="Arial" pitchFamily="34" charset="0"/>
                <a:ea typeface="Arial" pitchFamily="34" charset="-122"/>
                <a:cs typeface="Arial" pitchFamily="34" charset="-120"/>
              </a:rPr>
              <a:t>0.1 → 28.9</a:t>
            </a:r>
            <a:r>
              <a:rPr lang="en-US" sz="1300" dirty="0">
                <a:solidFill>
                  <a:srgbClr val="4B4752"/>
                </a:solidFill>
                <a:latin typeface="Arial" pitchFamily="34" charset="0"/>
                <a:ea typeface="Arial" pitchFamily="34" charset="-122"/>
                <a:cs typeface="Arial" pitchFamily="34" charset="-120"/>
              </a:rPr>
              <a:t>, 0.05 → 28.8 dB.</a:t>
            </a:r>
            <a:endParaRPr lang="en-US" sz="1300" dirty="0"/>
          </a:p>
        </p:txBody>
      </p:sp>
      <p:sp>
        <p:nvSpPr>
          <p:cNvPr id="19" name="Shape 17"/>
          <p:cNvSpPr/>
          <p:nvPr/>
        </p:nvSpPr>
        <p:spPr>
          <a:xfrm>
            <a:off x="6657975" y="1806575"/>
            <a:ext cx="4718050" cy="3549650"/>
          </a:xfrm>
          <a:prstGeom prst="roundRect">
            <a:avLst>
              <a:gd name="adj" fmla="val 2773"/>
            </a:avLst>
          </a:prstGeom>
          <a:solidFill>
            <a:srgbClr val="FBF9F5"/>
          </a:solidFill>
          <a:ln w="6350">
            <a:solidFill>
              <a:srgbClr val="DDD6CB"/>
            </a:solidFill>
            <a:prstDash val="solid"/>
          </a:ln>
        </p:spPr>
      </p:sp>
      <p:sp>
        <p:nvSpPr>
          <p:cNvPr id="20" name="Text 18"/>
          <p:cNvSpPr/>
          <p:nvPr/>
        </p:nvSpPr>
        <p:spPr>
          <a:xfrm>
            <a:off x="6889750" y="2038350"/>
            <a:ext cx="438213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A1F"/>
                </a:solidFill>
                <a:latin typeface="Arial" pitchFamily="34" charset="0"/>
                <a:ea typeface="Arial" pitchFamily="34" charset="-122"/>
                <a:cs typeface="Arial" pitchFamily="34" charset="-120"/>
              </a:rPr>
              <a:t>Slice position enters as z × 0.25</a:t>
            </a:r>
            <a:endParaRPr lang="en-US" sz="1800" dirty="0"/>
          </a:p>
        </p:txBody>
      </p:sp>
      <p:sp>
        <p:nvSpPr>
          <p:cNvPr id="21" name="Text 19"/>
          <p:cNvSpPr/>
          <p:nvPr/>
        </p:nvSpPr>
        <p:spPr>
          <a:xfrm>
            <a:off x="6889750" y="2426891"/>
            <a:ext cx="438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A hidden slice, 10 mm from each known neighbour</a:t>
            </a:r>
            <a:endParaRPr lang="en-US" sz="1200" dirty="0"/>
          </a:p>
        </p:txBody>
      </p:sp>
      <p:pic>
        <p:nvPicPr>
          <p:cNvPr id="22" name="Image 0" descr="SIREN with raw z: hidden slice filled with blotchy high-frequency noise">    </p:cNvPr>
          <p:cNvPicPr>
            <a:picLocks noChangeAspect="1"/>
          </p:cNvPicPr>
          <p:nvPr/>
        </p:nvPicPr>
        <p:blipFill>
          <a:blip r:embed="rId1"/>
          <a:srcRect l="0" r="0" t="0" b="0"/>
          <a:stretch/>
        </p:blipFill>
        <p:spPr>
          <a:xfrm>
            <a:off x="6889750" y="2754511"/>
            <a:ext cx="1714500" cy="1714500"/>
          </a:xfrm>
          <a:prstGeom prst="roundRect">
            <a:avLst>
              <a:gd name="adj" fmla="val 3704"/>
            </a:avLst>
          </a:prstGeom>
        </p:spPr>
      </p:pic>
      <p:sp>
        <p:nvSpPr>
          <p:cNvPr id="23" name="Text 20"/>
          <p:cNvSpPr/>
          <p:nvPr/>
        </p:nvSpPr>
        <p:spPr>
          <a:xfrm>
            <a:off x="6889750" y="4519811"/>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4752"/>
                </a:solidFill>
                <a:latin typeface="Arial" pitchFamily="34" charset="0"/>
                <a:ea typeface="Arial" pitchFamily="34" charset="-122"/>
                <a:cs typeface="Arial" pitchFamily="34" charset="-120"/>
              </a:rPr>
              <a:t>raw z: noise</a:t>
            </a:r>
            <a:endParaRPr lang="en-US" sz="1200" dirty="0"/>
          </a:p>
        </p:txBody>
      </p:sp>
      <p:pic>
        <p:nvPicPr>
          <p:cNvPr id="24" name="Image 1" descr="SIREN with z scaled by 0.25: smooth hidden slice without the noise">    </p:cNvPr>
          <p:cNvPicPr>
            <a:picLocks noChangeAspect="1"/>
          </p:cNvPicPr>
          <p:nvPr/>
        </p:nvPicPr>
        <p:blipFill>
          <a:blip r:embed="rId2"/>
          <a:srcRect l="0" r="0" t="0" b="0"/>
          <a:stretch/>
        </p:blipFill>
        <p:spPr>
          <a:xfrm>
            <a:off x="8731250" y="2754511"/>
            <a:ext cx="1714500" cy="1714500"/>
          </a:xfrm>
          <a:prstGeom prst="roundRect">
            <a:avLst>
              <a:gd name="adj" fmla="val 3704"/>
            </a:avLst>
          </a:prstGeom>
        </p:spPr>
      </p:pic>
      <p:sp>
        <p:nvSpPr>
          <p:cNvPr id="25" name="Text 21"/>
          <p:cNvSpPr/>
          <p:nvPr/>
        </p:nvSpPr>
        <p:spPr>
          <a:xfrm>
            <a:off x="8731250" y="4519811"/>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22A"/>
                </a:solidFill>
                <a:latin typeface="Arial" pitchFamily="34" charset="0"/>
                <a:ea typeface="Arial" pitchFamily="34" charset="-122"/>
                <a:cs typeface="Arial" pitchFamily="34" charset="-120"/>
              </a:rPr>
              <a:t>z × 0.25: smooth</a:t>
            </a:r>
            <a:endParaRPr lang="en-US" sz="1200" dirty="0"/>
          </a:p>
        </p:txBody>
      </p:sp>
      <p:sp>
        <p:nvSpPr>
          <p:cNvPr id="26" name="Text 22"/>
          <p:cNvSpPr/>
          <p:nvPr/>
        </p:nvSpPr>
        <p:spPr>
          <a:xfrm>
            <a:off x="6889750" y="4847431"/>
            <a:ext cx="43821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19.95 → 20.09 dB in the heart (interpolation 20.01).</a:t>
            </a:r>
            <a:endParaRPr lang="en-US" sz="1300" dirty="0"/>
          </a:p>
        </p:txBody>
      </p:sp>
      <p:sp>
        <p:nvSpPr>
          <p:cNvPr id="27" name="Text 23"/>
          <p:cNvSpPr/>
          <p:nvPr/>
        </p:nvSpPr>
        <p:spPr>
          <a:xfrm>
            <a:off x="812800" y="56134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Why: with sin(30 · …) the network can swing between the frames or slices it saw. Scaling one input slows the sines along that axis only.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DATA AND PIPELINE</a:t>
            </a:r>
            <a:endParaRPr lang="en-US" sz="1200" dirty="0"/>
          </a:p>
        </p:txBody>
      </p:sp>
      <p:sp>
        <p:nvSpPr>
          <p:cNvPr id="3"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Real patients, one command from scan to 3D heart</a:t>
            </a:r>
            <a:endParaRPr lang="en-US" sz="3200" dirty="0"/>
          </a:p>
        </p:txBody>
      </p:sp>
      <p:sp>
        <p:nvSpPr>
          <p:cNvPr id="4" name="Shape 2"/>
          <p:cNvSpPr/>
          <p:nvPr/>
        </p:nvSpPr>
        <p:spPr>
          <a:xfrm>
            <a:off x="815975" y="2253456"/>
            <a:ext cx="6127750" cy="1437977"/>
          </a:xfrm>
          <a:prstGeom prst="roundRect">
            <a:avLst>
              <a:gd name="adj" fmla="val 6845"/>
            </a:avLst>
          </a:prstGeom>
          <a:solidFill>
            <a:srgbClr val="FBF9F5"/>
          </a:solidFill>
          <a:ln w="6350">
            <a:solidFill>
              <a:srgbClr val="DDD6CB"/>
            </a:solidFill>
            <a:prstDash val="solid"/>
          </a:ln>
        </p:spPr>
      </p:sp>
      <p:sp>
        <p:nvSpPr>
          <p:cNvPr id="5" name="Text 3"/>
          <p:cNvSpPr/>
          <p:nvPr/>
        </p:nvSpPr>
        <p:spPr>
          <a:xfrm>
            <a:off x="1022350" y="2459831"/>
            <a:ext cx="58864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ACDC patient 051 · main patient</a:t>
            </a:r>
            <a:endParaRPr lang="en-US" sz="1600" dirty="0"/>
          </a:p>
        </p:txBody>
      </p:sp>
      <p:sp>
        <p:nvSpPr>
          <p:cNvPr id="6" name="Text 4"/>
          <p:cNvSpPr/>
          <p:nvPr/>
        </p:nvSpPr>
        <p:spPr>
          <a:xfrm>
            <a:off x="1022350" y="2767112"/>
            <a:ext cx="5886450"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Public cine‑MRI with expert labels (MICCAI 2017). Previous myocardial infarction. 224 × 256 pixels of 1.64 mm, 10 slices 10 mm apart, 30 frames. Labels of both ventricles and the muscle at end‑diastole and end‑systole.</a:t>
            </a:r>
            <a:endParaRPr lang="en-US" sz="1300" dirty="0"/>
          </a:p>
        </p:txBody>
      </p:sp>
      <p:sp>
        <p:nvSpPr>
          <p:cNvPr id="7" name="Shape 5"/>
          <p:cNvSpPr/>
          <p:nvPr/>
        </p:nvSpPr>
        <p:spPr>
          <a:xfrm>
            <a:off x="7153275" y="2253456"/>
            <a:ext cx="4222750" cy="1437977"/>
          </a:xfrm>
          <a:prstGeom prst="roundRect">
            <a:avLst>
              <a:gd name="adj" fmla="val 6845"/>
            </a:avLst>
          </a:prstGeom>
          <a:solidFill>
            <a:srgbClr val="FBF9F5"/>
          </a:solidFill>
          <a:ln w="6350">
            <a:solidFill>
              <a:srgbClr val="DDD6CB"/>
            </a:solidFill>
            <a:prstDash val="solid"/>
          </a:ln>
        </p:spPr>
      </p:sp>
      <p:sp>
        <p:nvSpPr>
          <p:cNvPr id="8" name="Text 6"/>
          <p:cNvSpPr/>
          <p:nvPr/>
        </p:nvSpPr>
        <p:spPr>
          <a:xfrm>
            <a:off x="7359650" y="2459831"/>
            <a:ext cx="39243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Patient 015 · second check</a:t>
            </a:r>
            <a:endParaRPr lang="en-US" sz="1600" dirty="0"/>
          </a:p>
        </p:txBody>
      </p:sp>
      <p:sp>
        <p:nvSpPr>
          <p:cNvPr id="9" name="Text 7"/>
          <p:cNvSpPr/>
          <p:nvPr/>
        </p:nvSpPr>
        <p:spPr>
          <a:xfrm>
            <a:off x="7359650" y="2767112"/>
            <a:ext cx="392430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Dilated cardiomyopathy, 9 slices, 21 frames. Used to repeat the hidden‑slice test on a different heart.</a:t>
            </a:r>
            <a:endParaRPr lang="en-US" sz="1300" dirty="0"/>
          </a:p>
        </p:txBody>
      </p:sp>
      <p:sp>
        <p:nvSpPr>
          <p:cNvPr id="10" name="Shape 8"/>
          <p:cNvSpPr/>
          <p:nvPr/>
        </p:nvSpPr>
        <p:spPr>
          <a:xfrm>
            <a:off x="812800" y="4055269"/>
            <a:ext cx="1747441" cy="723801"/>
          </a:xfrm>
          <a:prstGeom prst="roundRect">
            <a:avLst>
              <a:gd name="adj" fmla="val 10528"/>
            </a:avLst>
          </a:prstGeom>
          <a:solidFill>
            <a:srgbClr val="1C1A1F"/>
          </a:solidFill>
          <a:ln/>
        </p:spPr>
      </p:sp>
      <p:sp>
        <p:nvSpPr>
          <p:cNvPr id="11" name="Text 9"/>
          <p:cNvSpPr/>
          <p:nvPr/>
        </p:nvSpPr>
        <p:spPr>
          <a:xfrm>
            <a:off x="952500" y="4194969"/>
            <a:ext cx="151884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DE8E1"/>
                </a:solidFill>
                <a:latin typeface="Arial" pitchFamily="34" charset="0"/>
                <a:ea typeface="Arial" pitchFamily="34" charset="-122"/>
                <a:cs typeface="Arial" pitchFamily="34" charset="-120"/>
              </a:rPr>
              <a:t>Load</a:t>
            </a:r>
            <a:endParaRPr lang="en-US" sz="1300" dirty="0"/>
          </a:p>
        </p:txBody>
      </p:sp>
      <p:sp>
        <p:nvSpPr>
          <p:cNvPr id="12" name="Text 10"/>
          <p:cNvSpPr/>
          <p:nvPr/>
        </p:nvSpPr>
        <p:spPr>
          <a:xfrm>
            <a:off x="952500" y="4426049"/>
            <a:ext cx="15188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2B8"/>
                </a:solidFill>
                <a:latin typeface="Arial" pitchFamily="34" charset="0"/>
                <a:ea typeface="Arial" pitchFamily="34" charset="-122"/>
                <a:cs typeface="Arial" pitchFamily="34" charset="-120"/>
              </a:rPr>
              <a:t>4D NIfTI scan</a:t>
            </a:r>
            <a:endParaRPr lang="en-US" sz="1200" dirty="0"/>
          </a:p>
        </p:txBody>
      </p:sp>
      <p:pic>
        <p:nvPicPr>
          <p:cNvPr id="13" name="Image 0" descr="arrow-right">    </p:cNvPr>
          <p:cNvPicPr>
            <a:picLocks noChangeAspect="1"/>
          </p:cNvPicPr>
          <p:nvPr/>
        </p:nvPicPr>
        <p:blipFill>
          <a:blip r:embed="rId1"/>
          <a:srcRect l="0" r="0" t="0" b="0"/>
          <a:stretch/>
        </p:blipFill>
        <p:spPr>
          <a:xfrm>
            <a:off x="2649141" y="4340920"/>
            <a:ext cx="279400" cy="152400"/>
          </a:xfrm>
          <a:prstGeom prst="rect">
            <a:avLst/>
          </a:prstGeom>
        </p:spPr>
      </p:pic>
      <p:sp>
        <p:nvSpPr>
          <p:cNvPr id="14" name="Shape 11"/>
          <p:cNvSpPr/>
          <p:nvPr/>
        </p:nvSpPr>
        <p:spPr>
          <a:xfrm>
            <a:off x="3017441" y="4055269"/>
            <a:ext cx="1747540" cy="723801"/>
          </a:xfrm>
          <a:prstGeom prst="roundRect">
            <a:avLst>
              <a:gd name="adj" fmla="val 10528"/>
            </a:avLst>
          </a:prstGeom>
          <a:solidFill>
            <a:srgbClr val="1C1A1F"/>
          </a:solidFill>
          <a:ln/>
        </p:spPr>
      </p:sp>
      <p:sp>
        <p:nvSpPr>
          <p:cNvPr id="15" name="Text 12"/>
          <p:cNvSpPr/>
          <p:nvPr/>
        </p:nvSpPr>
        <p:spPr>
          <a:xfrm>
            <a:off x="3157141" y="4194969"/>
            <a:ext cx="15189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DE8E1"/>
                </a:solidFill>
                <a:latin typeface="Arial" pitchFamily="34" charset="0"/>
                <a:ea typeface="Arial" pitchFamily="34" charset="-122"/>
                <a:cs typeface="Arial" pitchFamily="34" charset="-120"/>
              </a:rPr>
              <a:t>Normalise</a:t>
            </a:r>
            <a:endParaRPr lang="en-US" sz="1300" dirty="0"/>
          </a:p>
        </p:txBody>
      </p:sp>
      <p:sp>
        <p:nvSpPr>
          <p:cNvPr id="16" name="Text 13"/>
          <p:cNvSpPr/>
          <p:nvPr/>
        </p:nvSpPr>
        <p:spPr>
          <a:xfrm>
            <a:off x="3157141" y="4426049"/>
            <a:ext cx="1518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2B8"/>
                </a:solidFill>
                <a:latin typeface="Arial" pitchFamily="34" charset="0"/>
                <a:ea typeface="Arial" pitchFamily="34" charset="-122"/>
                <a:cs typeface="Arial" pitchFamily="34" charset="-120"/>
              </a:rPr>
              <a:t>mm coordinates</a:t>
            </a:r>
            <a:endParaRPr lang="en-US" sz="1200" dirty="0"/>
          </a:p>
        </p:txBody>
      </p:sp>
      <p:pic>
        <p:nvPicPr>
          <p:cNvPr id="17" name="Image 1" descr="arrow-right">    </p:cNvPr>
          <p:cNvPicPr>
            <a:picLocks noChangeAspect="1"/>
          </p:cNvPicPr>
          <p:nvPr/>
        </p:nvPicPr>
        <p:blipFill>
          <a:blip r:embed="rId2"/>
          <a:srcRect l="0" r="0" t="0" b="0"/>
          <a:stretch/>
        </p:blipFill>
        <p:spPr>
          <a:xfrm>
            <a:off x="4853880" y="4340920"/>
            <a:ext cx="279400" cy="152400"/>
          </a:xfrm>
          <a:prstGeom prst="rect">
            <a:avLst/>
          </a:prstGeom>
        </p:spPr>
      </p:pic>
      <p:sp>
        <p:nvSpPr>
          <p:cNvPr id="18" name="Shape 14"/>
          <p:cNvSpPr/>
          <p:nvPr/>
        </p:nvSpPr>
        <p:spPr>
          <a:xfrm>
            <a:off x="5222180" y="4055269"/>
            <a:ext cx="1747540" cy="723801"/>
          </a:xfrm>
          <a:prstGeom prst="roundRect">
            <a:avLst>
              <a:gd name="adj" fmla="val 10528"/>
            </a:avLst>
          </a:prstGeom>
          <a:solidFill>
            <a:srgbClr val="1C1A1F"/>
          </a:solidFill>
          <a:ln/>
        </p:spPr>
      </p:sp>
      <p:sp>
        <p:nvSpPr>
          <p:cNvPr id="19" name="Text 15"/>
          <p:cNvSpPr/>
          <p:nvPr/>
        </p:nvSpPr>
        <p:spPr>
          <a:xfrm>
            <a:off x="5361880" y="4194969"/>
            <a:ext cx="15189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DE8E1"/>
                </a:solidFill>
                <a:latin typeface="Arial" pitchFamily="34" charset="0"/>
                <a:ea typeface="Arial" pitchFamily="34" charset="-122"/>
                <a:cs typeface="Arial" pitchFamily="34" charset="-120"/>
              </a:rPr>
              <a:t>Train</a:t>
            </a:r>
            <a:endParaRPr lang="en-US" sz="1300" dirty="0"/>
          </a:p>
        </p:txBody>
      </p:sp>
      <p:sp>
        <p:nvSpPr>
          <p:cNvPr id="20" name="Text 16"/>
          <p:cNvSpPr/>
          <p:nvPr/>
        </p:nvSpPr>
        <p:spPr>
          <a:xfrm>
            <a:off x="5361880" y="4426049"/>
            <a:ext cx="1518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2B8"/>
                </a:solidFill>
                <a:latin typeface="Arial" pitchFamily="34" charset="0"/>
                <a:ea typeface="Arial" pitchFamily="34" charset="-122"/>
                <a:cs typeface="Arial" pitchFamily="34" charset="-120"/>
              </a:rPr>
              <a:t>20,000 Adam steps</a:t>
            </a:r>
            <a:endParaRPr lang="en-US" sz="1200" dirty="0"/>
          </a:p>
        </p:txBody>
      </p:sp>
      <p:pic>
        <p:nvPicPr>
          <p:cNvPr id="21" name="Image 2" descr="arrow-right">    </p:cNvPr>
          <p:cNvPicPr>
            <a:picLocks noChangeAspect="1"/>
          </p:cNvPicPr>
          <p:nvPr/>
        </p:nvPicPr>
        <p:blipFill>
          <a:blip r:embed="rId3"/>
          <a:srcRect l="0" r="0" t="0" b="0"/>
          <a:stretch/>
        </p:blipFill>
        <p:spPr>
          <a:xfrm>
            <a:off x="7058620" y="4340920"/>
            <a:ext cx="279400" cy="152400"/>
          </a:xfrm>
          <a:prstGeom prst="rect">
            <a:avLst/>
          </a:prstGeom>
        </p:spPr>
      </p:pic>
      <p:sp>
        <p:nvSpPr>
          <p:cNvPr id="22" name="Shape 17"/>
          <p:cNvSpPr/>
          <p:nvPr/>
        </p:nvSpPr>
        <p:spPr>
          <a:xfrm>
            <a:off x="7426920" y="4055269"/>
            <a:ext cx="1747540" cy="723801"/>
          </a:xfrm>
          <a:prstGeom prst="roundRect">
            <a:avLst>
              <a:gd name="adj" fmla="val 10528"/>
            </a:avLst>
          </a:prstGeom>
          <a:solidFill>
            <a:srgbClr val="1C1A1F"/>
          </a:solidFill>
          <a:ln/>
        </p:spPr>
      </p:sp>
      <p:sp>
        <p:nvSpPr>
          <p:cNvPr id="23" name="Text 18"/>
          <p:cNvSpPr/>
          <p:nvPr/>
        </p:nvSpPr>
        <p:spPr>
          <a:xfrm>
            <a:off x="7566620" y="4194969"/>
            <a:ext cx="15189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DE8E1"/>
                </a:solidFill>
                <a:latin typeface="Arial" pitchFamily="34" charset="0"/>
                <a:ea typeface="Arial" pitchFamily="34" charset="-122"/>
                <a:cs typeface="Arial" pitchFamily="34" charset="-120"/>
              </a:rPr>
              <a:t>Query</a:t>
            </a:r>
            <a:endParaRPr lang="en-US" sz="1300" dirty="0"/>
          </a:p>
        </p:txBody>
      </p:sp>
      <p:sp>
        <p:nvSpPr>
          <p:cNvPr id="24" name="Text 19"/>
          <p:cNvSpPr/>
          <p:nvPr/>
        </p:nvSpPr>
        <p:spPr>
          <a:xfrm>
            <a:off x="7566620" y="4426049"/>
            <a:ext cx="1518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2B8"/>
                </a:solidFill>
                <a:latin typeface="Arial" pitchFamily="34" charset="0"/>
                <a:ea typeface="Arial" pitchFamily="34" charset="-122"/>
                <a:cs typeface="Arial" pitchFamily="34" charset="-120"/>
              </a:rPr>
              <a:t>any grid, any time</a:t>
            </a:r>
            <a:endParaRPr lang="en-US" sz="1200" dirty="0"/>
          </a:p>
        </p:txBody>
      </p:sp>
      <p:pic>
        <p:nvPicPr>
          <p:cNvPr id="25" name="Image 3" descr="arrow-right">    </p:cNvPr>
          <p:cNvPicPr>
            <a:picLocks noChangeAspect="1"/>
          </p:cNvPicPr>
          <p:nvPr/>
        </p:nvPicPr>
        <p:blipFill>
          <a:blip r:embed="rId4"/>
          <a:srcRect l="0" r="0" t="0" b="0"/>
          <a:stretch/>
        </p:blipFill>
        <p:spPr>
          <a:xfrm>
            <a:off x="9263360" y="4340920"/>
            <a:ext cx="279400" cy="152400"/>
          </a:xfrm>
          <a:prstGeom prst="rect">
            <a:avLst/>
          </a:prstGeom>
        </p:spPr>
      </p:pic>
      <p:sp>
        <p:nvSpPr>
          <p:cNvPr id="26" name="Shape 20"/>
          <p:cNvSpPr/>
          <p:nvPr/>
        </p:nvSpPr>
        <p:spPr>
          <a:xfrm>
            <a:off x="9631660" y="3948609"/>
            <a:ext cx="1747540" cy="937121"/>
          </a:xfrm>
          <a:prstGeom prst="roundRect">
            <a:avLst>
              <a:gd name="adj" fmla="val 8131"/>
            </a:avLst>
          </a:prstGeom>
          <a:solidFill>
            <a:srgbClr val="B8322A"/>
          </a:solidFill>
          <a:ln/>
        </p:spPr>
      </p:sp>
      <p:sp>
        <p:nvSpPr>
          <p:cNvPr id="27" name="Text 21"/>
          <p:cNvSpPr/>
          <p:nvPr/>
        </p:nvSpPr>
        <p:spPr>
          <a:xfrm>
            <a:off x="9771360" y="4088309"/>
            <a:ext cx="15189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BF9F5"/>
                </a:solidFill>
                <a:latin typeface="Arial" pitchFamily="34" charset="0"/>
                <a:ea typeface="Arial" pitchFamily="34" charset="-122"/>
                <a:cs typeface="Arial" pitchFamily="34" charset="-120"/>
              </a:rPr>
              <a:t>Evaluate, 3D</a:t>
            </a:r>
            <a:endParaRPr lang="en-US" sz="1300" dirty="0"/>
          </a:p>
        </p:txBody>
      </p:sp>
      <p:sp>
        <p:nvSpPr>
          <p:cNvPr id="28" name="Text 22"/>
          <p:cNvSpPr/>
          <p:nvPr/>
        </p:nvSpPr>
        <p:spPr>
          <a:xfrm>
            <a:off x="9771360" y="4319389"/>
            <a:ext cx="15189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DCD6"/>
                </a:solidFill>
                <a:latin typeface="Arial" pitchFamily="34" charset="0"/>
                <a:ea typeface="Arial" pitchFamily="34" charset="-122"/>
                <a:cs typeface="Arial" pitchFamily="34" charset="-120"/>
              </a:rPr>
              <a:t>PSNR, SSIM, meshes</a:t>
            </a:r>
            <a:endParaRPr lang="en-US" sz="1200" dirty="0"/>
          </a:p>
        </p:txBody>
      </p:sp>
      <p:sp>
        <p:nvSpPr>
          <p:cNvPr id="29" name="Text 23"/>
          <p:cNvSpPr/>
          <p:nvPr/>
        </p:nvSpPr>
        <p:spPr>
          <a:xfrm>
            <a:off x="812800" y="5139730"/>
            <a:ext cx="10566400" cy="477441"/>
          </a:xfrm>
          <a:prstGeom prst="roundRect">
            <a:avLst>
              <a:gd name="adj" fmla="val 13300"/>
            </a:avLst>
          </a:prstGeom>
          <a:solidFill>
            <a:srgbClr val="E3DDD3"/>
          </a:solidFill>
          <a:ln/>
        </p:spPr>
        <p:txBody>
          <a:bodyPr wrap="square" lIns="133801" tIns="95701" rIns="0" bIns="70301" rtlCol="0" anchor="t">
            <a:normAutofit/>
          </a:bodyPr>
          <a:lstStyle/>
          <a:p>
            <a:pPr algn="l" indent="0" marL="0">
              <a:lnSpc>
                <a:spcPts val="1960"/>
              </a:lnSpc>
              <a:buNone/>
            </a:pPr>
            <a:r>
              <a:rPr lang="en-US" sz="1400" dirty="0">
                <a:solidFill>
                  <a:srgbClr val="1C1A1F"/>
                </a:solidFill>
                <a:latin typeface="Courier New" pitchFamily="49" charset="0"/>
                <a:ea typeface="Courier New" pitchFamily="49" charset="-122"/>
                <a:cs typeface="Courier New" pitchFamily="49" charset="-120"/>
              </a:rPr>
              <a:t>setup.bat → python scripts/pipeline.py --patient data/acdc/patient051</a:t>
            </a:r>
            <a:endParaRPr lang="en-US" sz="1400" dirty="0"/>
          </a:p>
        </p:txBody>
      </p:sp>
      <p:sp>
        <p:nvSpPr>
          <p:cNvPr id="30" name="Text 2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31" name="Text 2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E5D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HOW WE TEST</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Hide part of the scan, then ask the network for it</a:t>
            </a:r>
            <a:endParaRPr lang="en-US" sz="3200" dirty="0"/>
          </a:p>
        </p:txBody>
      </p:sp>
      <p:sp>
        <p:nvSpPr>
          <p:cNvPr id="4" name="Text 2"/>
          <p:cNvSpPr/>
          <p:nvPr/>
        </p:nvSpPr>
        <p:spPr>
          <a:xfrm>
            <a:off x="812800" y="182870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A1F"/>
                </a:solidFill>
                <a:latin typeface="Arial" pitchFamily="34" charset="0"/>
                <a:ea typeface="Arial" pitchFamily="34" charset="-122"/>
                <a:cs typeface="Arial" pitchFamily="34" charset="-120"/>
              </a:rPr>
              <a:t>Example: only every 4th frame is shown to the network</a:t>
            </a:r>
            <a:r>
              <a:rPr lang="en-US" sz="1300" dirty="0">
                <a:solidFill>
                  <a:srgbClr val="1C1A1F"/>
                </a:solidFill>
                <a:latin typeface="Arial" pitchFamily="34" charset="0"/>
                <a:ea typeface="Arial" pitchFamily="34" charset="-122"/>
                <a:cs typeface="Arial" pitchFamily="34" charset="-120"/>
              </a:rPr>
              <a:t> (9 of 30 kept, 21 hidden)</a:t>
            </a:r>
            <a:endParaRPr lang="en-US" sz="1300" dirty="0"/>
          </a:p>
        </p:txBody>
      </p:sp>
      <p:sp>
        <p:nvSpPr>
          <p:cNvPr id="5" name="Shape 3"/>
          <p:cNvSpPr/>
          <p:nvPr/>
        </p:nvSpPr>
        <p:spPr>
          <a:xfrm>
            <a:off x="812800" y="2148681"/>
            <a:ext cx="297557" cy="355600"/>
          </a:xfrm>
          <a:prstGeom prst="roundRect">
            <a:avLst>
              <a:gd name="adj" fmla="val 12804"/>
            </a:avLst>
          </a:prstGeom>
          <a:solidFill>
            <a:srgbClr val="1C1A1F"/>
          </a:solidFill>
          <a:ln/>
        </p:spPr>
      </p:sp>
      <p:sp>
        <p:nvSpPr>
          <p:cNvPr id="6" name="Shape 4"/>
          <p:cNvSpPr/>
          <p:nvPr/>
        </p:nvSpPr>
        <p:spPr>
          <a:xfrm>
            <a:off x="1154807" y="2155031"/>
            <a:ext cx="310356" cy="342900"/>
          </a:xfrm>
          <a:prstGeom prst="roundRect">
            <a:avLst>
              <a:gd name="adj" fmla="val 10230"/>
            </a:avLst>
          </a:prstGeom>
          <a:noFill/>
          <a:ln w="12700">
            <a:solidFill>
              <a:srgbClr val="B8322A"/>
            </a:solidFill>
            <a:prstDash val="dash"/>
          </a:ln>
        </p:spPr>
      </p:sp>
      <p:sp>
        <p:nvSpPr>
          <p:cNvPr id="7" name="Shape 5"/>
          <p:cNvSpPr/>
          <p:nvPr/>
        </p:nvSpPr>
        <p:spPr>
          <a:xfrm>
            <a:off x="1515963" y="2155031"/>
            <a:ext cx="310257" cy="342900"/>
          </a:xfrm>
          <a:prstGeom prst="roundRect">
            <a:avLst>
              <a:gd name="adj" fmla="val 10233"/>
            </a:avLst>
          </a:prstGeom>
          <a:noFill/>
          <a:ln w="12700">
            <a:solidFill>
              <a:srgbClr val="B8322A"/>
            </a:solidFill>
            <a:prstDash val="dash"/>
          </a:ln>
        </p:spPr>
      </p:sp>
      <p:sp>
        <p:nvSpPr>
          <p:cNvPr id="8" name="Shape 6"/>
          <p:cNvSpPr/>
          <p:nvPr/>
        </p:nvSpPr>
        <p:spPr>
          <a:xfrm>
            <a:off x="1877020" y="2155031"/>
            <a:ext cx="310356" cy="342900"/>
          </a:xfrm>
          <a:prstGeom prst="roundRect">
            <a:avLst>
              <a:gd name="adj" fmla="val 10230"/>
            </a:avLst>
          </a:prstGeom>
          <a:noFill/>
          <a:ln w="12700">
            <a:solidFill>
              <a:srgbClr val="B8322A"/>
            </a:solidFill>
            <a:prstDash val="dash"/>
          </a:ln>
        </p:spPr>
      </p:sp>
      <p:sp>
        <p:nvSpPr>
          <p:cNvPr id="9" name="Shape 7"/>
          <p:cNvSpPr/>
          <p:nvPr/>
        </p:nvSpPr>
        <p:spPr>
          <a:xfrm>
            <a:off x="2231827" y="2148681"/>
            <a:ext cx="297557" cy="355600"/>
          </a:xfrm>
          <a:prstGeom prst="roundRect">
            <a:avLst>
              <a:gd name="adj" fmla="val 12804"/>
            </a:avLst>
          </a:prstGeom>
          <a:solidFill>
            <a:srgbClr val="1C1A1F"/>
          </a:solidFill>
          <a:ln/>
        </p:spPr>
      </p:sp>
      <p:sp>
        <p:nvSpPr>
          <p:cNvPr id="10" name="Shape 8"/>
          <p:cNvSpPr/>
          <p:nvPr/>
        </p:nvSpPr>
        <p:spPr>
          <a:xfrm>
            <a:off x="2573834" y="2155031"/>
            <a:ext cx="310356" cy="342900"/>
          </a:xfrm>
          <a:prstGeom prst="roundRect">
            <a:avLst>
              <a:gd name="adj" fmla="val 10230"/>
            </a:avLst>
          </a:prstGeom>
          <a:noFill/>
          <a:ln w="12700">
            <a:solidFill>
              <a:srgbClr val="B8322A"/>
            </a:solidFill>
            <a:prstDash val="dash"/>
          </a:ln>
        </p:spPr>
      </p:sp>
      <p:sp>
        <p:nvSpPr>
          <p:cNvPr id="11" name="Shape 9"/>
          <p:cNvSpPr/>
          <p:nvPr/>
        </p:nvSpPr>
        <p:spPr>
          <a:xfrm>
            <a:off x="2934990" y="2155031"/>
            <a:ext cx="310257" cy="342900"/>
          </a:xfrm>
          <a:prstGeom prst="roundRect">
            <a:avLst>
              <a:gd name="adj" fmla="val 10233"/>
            </a:avLst>
          </a:prstGeom>
          <a:noFill/>
          <a:ln w="12700">
            <a:solidFill>
              <a:srgbClr val="B8322A"/>
            </a:solidFill>
            <a:prstDash val="dash"/>
          </a:ln>
        </p:spPr>
      </p:sp>
      <p:sp>
        <p:nvSpPr>
          <p:cNvPr id="12" name="Shape 10"/>
          <p:cNvSpPr/>
          <p:nvPr/>
        </p:nvSpPr>
        <p:spPr>
          <a:xfrm>
            <a:off x="3296047" y="2155031"/>
            <a:ext cx="310356" cy="342900"/>
          </a:xfrm>
          <a:prstGeom prst="roundRect">
            <a:avLst>
              <a:gd name="adj" fmla="val 10230"/>
            </a:avLst>
          </a:prstGeom>
          <a:noFill/>
          <a:ln w="12700">
            <a:solidFill>
              <a:srgbClr val="B8322A"/>
            </a:solidFill>
            <a:prstDash val="dash"/>
          </a:ln>
        </p:spPr>
      </p:sp>
      <p:sp>
        <p:nvSpPr>
          <p:cNvPr id="13" name="Shape 11"/>
          <p:cNvSpPr/>
          <p:nvPr/>
        </p:nvSpPr>
        <p:spPr>
          <a:xfrm>
            <a:off x="3650853" y="2148681"/>
            <a:ext cx="297557" cy="355600"/>
          </a:xfrm>
          <a:prstGeom prst="roundRect">
            <a:avLst>
              <a:gd name="adj" fmla="val 12804"/>
            </a:avLst>
          </a:prstGeom>
          <a:solidFill>
            <a:srgbClr val="1C1A1F"/>
          </a:solidFill>
          <a:ln/>
        </p:spPr>
      </p:sp>
      <p:sp>
        <p:nvSpPr>
          <p:cNvPr id="14" name="Shape 12"/>
          <p:cNvSpPr/>
          <p:nvPr/>
        </p:nvSpPr>
        <p:spPr>
          <a:xfrm>
            <a:off x="3992860" y="2155031"/>
            <a:ext cx="310356" cy="342900"/>
          </a:xfrm>
          <a:prstGeom prst="roundRect">
            <a:avLst>
              <a:gd name="adj" fmla="val 10230"/>
            </a:avLst>
          </a:prstGeom>
          <a:noFill/>
          <a:ln w="12700">
            <a:solidFill>
              <a:srgbClr val="B8322A"/>
            </a:solidFill>
            <a:prstDash val="dash"/>
          </a:ln>
        </p:spPr>
      </p:sp>
      <p:sp>
        <p:nvSpPr>
          <p:cNvPr id="15" name="Shape 13"/>
          <p:cNvSpPr/>
          <p:nvPr/>
        </p:nvSpPr>
        <p:spPr>
          <a:xfrm>
            <a:off x="4354016" y="2155031"/>
            <a:ext cx="310257" cy="342900"/>
          </a:xfrm>
          <a:prstGeom prst="roundRect">
            <a:avLst>
              <a:gd name="adj" fmla="val 10233"/>
            </a:avLst>
          </a:prstGeom>
          <a:noFill/>
          <a:ln w="12700">
            <a:solidFill>
              <a:srgbClr val="B8322A"/>
            </a:solidFill>
            <a:prstDash val="dash"/>
          </a:ln>
        </p:spPr>
      </p:sp>
      <p:sp>
        <p:nvSpPr>
          <p:cNvPr id="16" name="Shape 14"/>
          <p:cNvSpPr/>
          <p:nvPr/>
        </p:nvSpPr>
        <p:spPr>
          <a:xfrm>
            <a:off x="4715073" y="2155031"/>
            <a:ext cx="310356" cy="342900"/>
          </a:xfrm>
          <a:prstGeom prst="roundRect">
            <a:avLst>
              <a:gd name="adj" fmla="val 10230"/>
            </a:avLst>
          </a:prstGeom>
          <a:noFill/>
          <a:ln w="12700">
            <a:solidFill>
              <a:srgbClr val="B8322A"/>
            </a:solidFill>
            <a:prstDash val="dash"/>
          </a:ln>
        </p:spPr>
      </p:sp>
      <p:sp>
        <p:nvSpPr>
          <p:cNvPr id="17" name="Shape 15"/>
          <p:cNvSpPr/>
          <p:nvPr/>
        </p:nvSpPr>
        <p:spPr>
          <a:xfrm>
            <a:off x="5069880" y="2148681"/>
            <a:ext cx="297557" cy="355600"/>
          </a:xfrm>
          <a:prstGeom prst="roundRect">
            <a:avLst>
              <a:gd name="adj" fmla="val 12804"/>
            </a:avLst>
          </a:prstGeom>
          <a:solidFill>
            <a:srgbClr val="1C1A1F"/>
          </a:solidFill>
          <a:ln/>
        </p:spPr>
      </p:sp>
      <p:sp>
        <p:nvSpPr>
          <p:cNvPr id="18" name="Shape 16"/>
          <p:cNvSpPr/>
          <p:nvPr/>
        </p:nvSpPr>
        <p:spPr>
          <a:xfrm>
            <a:off x="5411887" y="2155031"/>
            <a:ext cx="310356" cy="342900"/>
          </a:xfrm>
          <a:prstGeom prst="roundRect">
            <a:avLst>
              <a:gd name="adj" fmla="val 10230"/>
            </a:avLst>
          </a:prstGeom>
          <a:noFill/>
          <a:ln w="12700">
            <a:solidFill>
              <a:srgbClr val="B8322A"/>
            </a:solidFill>
            <a:prstDash val="dash"/>
          </a:ln>
        </p:spPr>
      </p:sp>
      <p:sp>
        <p:nvSpPr>
          <p:cNvPr id="19" name="Shape 17"/>
          <p:cNvSpPr/>
          <p:nvPr/>
        </p:nvSpPr>
        <p:spPr>
          <a:xfrm>
            <a:off x="5773043" y="2155031"/>
            <a:ext cx="310257" cy="342900"/>
          </a:xfrm>
          <a:prstGeom prst="roundRect">
            <a:avLst>
              <a:gd name="adj" fmla="val 10233"/>
            </a:avLst>
          </a:prstGeom>
          <a:noFill/>
          <a:ln w="12700">
            <a:solidFill>
              <a:srgbClr val="B8322A"/>
            </a:solidFill>
            <a:prstDash val="dash"/>
          </a:ln>
        </p:spPr>
      </p:sp>
      <p:sp>
        <p:nvSpPr>
          <p:cNvPr id="20" name="Shape 18"/>
          <p:cNvSpPr/>
          <p:nvPr/>
        </p:nvSpPr>
        <p:spPr>
          <a:xfrm>
            <a:off x="6134100" y="2155031"/>
            <a:ext cx="310356" cy="342900"/>
          </a:xfrm>
          <a:prstGeom prst="roundRect">
            <a:avLst>
              <a:gd name="adj" fmla="val 10230"/>
            </a:avLst>
          </a:prstGeom>
          <a:noFill/>
          <a:ln w="12700">
            <a:solidFill>
              <a:srgbClr val="B8322A"/>
            </a:solidFill>
            <a:prstDash val="dash"/>
          </a:ln>
        </p:spPr>
      </p:sp>
      <p:sp>
        <p:nvSpPr>
          <p:cNvPr id="21" name="Shape 19"/>
          <p:cNvSpPr/>
          <p:nvPr/>
        </p:nvSpPr>
        <p:spPr>
          <a:xfrm>
            <a:off x="6488906" y="2148681"/>
            <a:ext cx="297557" cy="355600"/>
          </a:xfrm>
          <a:prstGeom prst="roundRect">
            <a:avLst>
              <a:gd name="adj" fmla="val 12804"/>
            </a:avLst>
          </a:prstGeom>
          <a:solidFill>
            <a:srgbClr val="1C1A1F"/>
          </a:solidFill>
          <a:ln/>
        </p:spPr>
      </p:sp>
      <p:sp>
        <p:nvSpPr>
          <p:cNvPr id="22" name="Shape 20"/>
          <p:cNvSpPr/>
          <p:nvPr/>
        </p:nvSpPr>
        <p:spPr>
          <a:xfrm>
            <a:off x="6830913" y="2155031"/>
            <a:ext cx="310356" cy="342900"/>
          </a:xfrm>
          <a:prstGeom prst="roundRect">
            <a:avLst>
              <a:gd name="adj" fmla="val 10230"/>
            </a:avLst>
          </a:prstGeom>
          <a:noFill/>
          <a:ln w="12700">
            <a:solidFill>
              <a:srgbClr val="B8322A"/>
            </a:solidFill>
            <a:prstDash val="dash"/>
          </a:ln>
        </p:spPr>
      </p:sp>
      <p:sp>
        <p:nvSpPr>
          <p:cNvPr id="23" name="Shape 21"/>
          <p:cNvSpPr/>
          <p:nvPr/>
        </p:nvSpPr>
        <p:spPr>
          <a:xfrm>
            <a:off x="7192070" y="2155031"/>
            <a:ext cx="310257" cy="342900"/>
          </a:xfrm>
          <a:prstGeom prst="roundRect">
            <a:avLst>
              <a:gd name="adj" fmla="val 10233"/>
            </a:avLst>
          </a:prstGeom>
          <a:noFill/>
          <a:ln w="12700">
            <a:solidFill>
              <a:srgbClr val="B8322A"/>
            </a:solidFill>
            <a:prstDash val="dash"/>
          </a:ln>
        </p:spPr>
      </p:sp>
      <p:sp>
        <p:nvSpPr>
          <p:cNvPr id="24" name="Shape 22"/>
          <p:cNvSpPr/>
          <p:nvPr/>
        </p:nvSpPr>
        <p:spPr>
          <a:xfrm>
            <a:off x="7553127" y="2155031"/>
            <a:ext cx="310356" cy="342900"/>
          </a:xfrm>
          <a:prstGeom prst="roundRect">
            <a:avLst>
              <a:gd name="adj" fmla="val 10230"/>
            </a:avLst>
          </a:prstGeom>
          <a:noFill/>
          <a:ln w="12700">
            <a:solidFill>
              <a:srgbClr val="B8322A"/>
            </a:solidFill>
            <a:prstDash val="dash"/>
          </a:ln>
        </p:spPr>
      </p:sp>
      <p:sp>
        <p:nvSpPr>
          <p:cNvPr id="25" name="Shape 23"/>
          <p:cNvSpPr/>
          <p:nvPr/>
        </p:nvSpPr>
        <p:spPr>
          <a:xfrm>
            <a:off x="7907933" y="2148681"/>
            <a:ext cx="297557" cy="355600"/>
          </a:xfrm>
          <a:prstGeom prst="roundRect">
            <a:avLst>
              <a:gd name="adj" fmla="val 12804"/>
            </a:avLst>
          </a:prstGeom>
          <a:solidFill>
            <a:srgbClr val="1C1A1F"/>
          </a:solidFill>
          <a:ln/>
        </p:spPr>
      </p:sp>
      <p:sp>
        <p:nvSpPr>
          <p:cNvPr id="26" name="Shape 24"/>
          <p:cNvSpPr/>
          <p:nvPr/>
        </p:nvSpPr>
        <p:spPr>
          <a:xfrm>
            <a:off x="8249940" y="2155031"/>
            <a:ext cx="310356" cy="342900"/>
          </a:xfrm>
          <a:prstGeom prst="roundRect">
            <a:avLst>
              <a:gd name="adj" fmla="val 10230"/>
            </a:avLst>
          </a:prstGeom>
          <a:noFill/>
          <a:ln w="12700">
            <a:solidFill>
              <a:srgbClr val="B8322A"/>
            </a:solidFill>
            <a:prstDash val="dash"/>
          </a:ln>
        </p:spPr>
      </p:sp>
      <p:sp>
        <p:nvSpPr>
          <p:cNvPr id="27" name="Shape 25"/>
          <p:cNvSpPr/>
          <p:nvPr/>
        </p:nvSpPr>
        <p:spPr>
          <a:xfrm>
            <a:off x="8611096" y="2155031"/>
            <a:ext cx="310257" cy="342900"/>
          </a:xfrm>
          <a:prstGeom prst="roundRect">
            <a:avLst>
              <a:gd name="adj" fmla="val 10233"/>
            </a:avLst>
          </a:prstGeom>
          <a:noFill/>
          <a:ln w="12700">
            <a:solidFill>
              <a:srgbClr val="B8322A"/>
            </a:solidFill>
            <a:prstDash val="dash"/>
          </a:ln>
        </p:spPr>
      </p:sp>
      <p:sp>
        <p:nvSpPr>
          <p:cNvPr id="28" name="Shape 26"/>
          <p:cNvSpPr/>
          <p:nvPr/>
        </p:nvSpPr>
        <p:spPr>
          <a:xfrm>
            <a:off x="8972153" y="2155031"/>
            <a:ext cx="310356" cy="342900"/>
          </a:xfrm>
          <a:prstGeom prst="roundRect">
            <a:avLst>
              <a:gd name="adj" fmla="val 10230"/>
            </a:avLst>
          </a:prstGeom>
          <a:noFill/>
          <a:ln w="12700">
            <a:solidFill>
              <a:srgbClr val="B8322A"/>
            </a:solidFill>
            <a:prstDash val="dash"/>
          </a:ln>
        </p:spPr>
      </p:sp>
      <p:sp>
        <p:nvSpPr>
          <p:cNvPr id="29" name="Shape 27"/>
          <p:cNvSpPr/>
          <p:nvPr/>
        </p:nvSpPr>
        <p:spPr>
          <a:xfrm>
            <a:off x="9326959" y="2148681"/>
            <a:ext cx="297557" cy="355600"/>
          </a:xfrm>
          <a:prstGeom prst="roundRect">
            <a:avLst>
              <a:gd name="adj" fmla="val 12804"/>
            </a:avLst>
          </a:prstGeom>
          <a:solidFill>
            <a:srgbClr val="1C1A1F"/>
          </a:solidFill>
          <a:ln/>
        </p:spPr>
      </p:sp>
      <p:sp>
        <p:nvSpPr>
          <p:cNvPr id="30" name="Shape 28"/>
          <p:cNvSpPr/>
          <p:nvPr/>
        </p:nvSpPr>
        <p:spPr>
          <a:xfrm>
            <a:off x="9668966" y="2155031"/>
            <a:ext cx="310356" cy="342900"/>
          </a:xfrm>
          <a:prstGeom prst="roundRect">
            <a:avLst>
              <a:gd name="adj" fmla="val 10230"/>
            </a:avLst>
          </a:prstGeom>
          <a:noFill/>
          <a:ln w="12700">
            <a:solidFill>
              <a:srgbClr val="B8322A"/>
            </a:solidFill>
            <a:prstDash val="dash"/>
          </a:ln>
        </p:spPr>
      </p:sp>
      <p:sp>
        <p:nvSpPr>
          <p:cNvPr id="31" name="Shape 29"/>
          <p:cNvSpPr/>
          <p:nvPr/>
        </p:nvSpPr>
        <p:spPr>
          <a:xfrm>
            <a:off x="10030123" y="2155031"/>
            <a:ext cx="310257" cy="342900"/>
          </a:xfrm>
          <a:prstGeom prst="roundRect">
            <a:avLst>
              <a:gd name="adj" fmla="val 10233"/>
            </a:avLst>
          </a:prstGeom>
          <a:noFill/>
          <a:ln w="12700">
            <a:solidFill>
              <a:srgbClr val="B8322A"/>
            </a:solidFill>
            <a:prstDash val="dash"/>
          </a:ln>
        </p:spPr>
      </p:sp>
      <p:sp>
        <p:nvSpPr>
          <p:cNvPr id="32" name="Shape 30"/>
          <p:cNvSpPr/>
          <p:nvPr/>
        </p:nvSpPr>
        <p:spPr>
          <a:xfrm>
            <a:off x="10391180" y="2155031"/>
            <a:ext cx="310356" cy="342900"/>
          </a:xfrm>
          <a:prstGeom prst="roundRect">
            <a:avLst>
              <a:gd name="adj" fmla="val 10230"/>
            </a:avLst>
          </a:prstGeom>
          <a:noFill/>
          <a:ln w="12700">
            <a:solidFill>
              <a:srgbClr val="B8322A"/>
            </a:solidFill>
            <a:prstDash val="dash"/>
          </a:ln>
        </p:spPr>
      </p:sp>
      <p:sp>
        <p:nvSpPr>
          <p:cNvPr id="33" name="Shape 31"/>
          <p:cNvSpPr/>
          <p:nvPr/>
        </p:nvSpPr>
        <p:spPr>
          <a:xfrm>
            <a:off x="10745986" y="2148681"/>
            <a:ext cx="297557" cy="355600"/>
          </a:xfrm>
          <a:prstGeom prst="roundRect">
            <a:avLst>
              <a:gd name="adj" fmla="val 12804"/>
            </a:avLst>
          </a:prstGeom>
          <a:solidFill>
            <a:srgbClr val="1C1A1F"/>
          </a:solidFill>
          <a:ln/>
        </p:spPr>
      </p:sp>
      <p:sp>
        <p:nvSpPr>
          <p:cNvPr id="34" name="Shape 32"/>
          <p:cNvSpPr/>
          <p:nvPr/>
        </p:nvSpPr>
        <p:spPr>
          <a:xfrm>
            <a:off x="11081643" y="2148681"/>
            <a:ext cx="297557" cy="355600"/>
          </a:xfrm>
          <a:prstGeom prst="roundRect">
            <a:avLst>
              <a:gd name="adj" fmla="val 12804"/>
            </a:avLst>
          </a:prstGeom>
          <a:solidFill>
            <a:srgbClr val="1C1A1F"/>
          </a:solidFill>
          <a:ln/>
        </p:spPr>
      </p:sp>
      <p:sp>
        <p:nvSpPr>
          <p:cNvPr id="35" name="Text 33"/>
          <p:cNvSpPr/>
          <p:nvPr/>
        </p:nvSpPr>
        <p:spPr>
          <a:xfrm>
            <a:off x="812800" y="2593181"/>
            <a:ext cx="13112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frame 0 · shown</a:t>
            </a:r>
            <a:endParaRPr lang="en-US" sz="1200" dirty="0"/>
          </a:p>
        </p:txBody>
      </p:sp>
      <p:sp>
        <p:nvSpPr>
          <p:cNvPr id="36" name="Text 34"/>
          <p:cNvSpPr/>
          <p:nvPr/>
        </p:nvSpPr>
        <p:spPr>
          <a:xfrm>
            <a:off x="5504954" y="2593181"/>
            <a:ext cx="20081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322A"/>
                </a:solidFill>
                <a:latin typeface="Arial" pitchFamily="34" charset="0"/>
                <a:ea typeface="Arial" pitchFamily="34" charset="-122"/>
                <a:cs typeface="Arial" pitchFamily="34" charset="-120"/>
              </a:rPr>
              <a:t>dashed = hidden, scored</a:t>
            </a:r>
            <a:endParaRPr lang="en-US" sz="1200" dirty="0"/>
          </a:p>
        </p:txBody>
      </p:sp>
      <p:sp>
        <p:nvSpPr>
          <p:cNvPr id="37" name="Text 35"/>
          <p:cNvSpPr/>
          <p:nvPr/>
        </p:nvSpPr>
        <p:spPr>
          <a:xfrm>
            <a:off x="10657443" y="2593181"/>
            <a:ext cx="7217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frame 29</a:t>
            </a:r>
            <a:endParaRPr lang="en-US" sz="1200" dirty="0"/>
          </a:p>
        </p:txBody>
      </p:sp>
      <p:sp>
        <p:nvSpPr>
          <p:cNvPr id="38" name="Shape 36"/>
          <p:cNvSpPr/>
          <p:nvPr/>
        </p:nvSpPr>
        <p:spPr>
          <a:xfrm>
            <a:off x="812800" y="3085902"/>
            <a:ext cx="3403600" cy="2756098"/>
          </a:xfrm>
          <a:prstGeom prst="roundRect">
            <a:avLst>
              <a:gd name="adj" fmla="val 3686"/>
            </a:avLst>
          </a:prstGeom>
          <a:solidFill>
            <a:srgbClr val="F4F1EC"/>
          </a:solidFill>
          <a:ln/>
        </p:spPr>
      </p:sp>
      <p:sp>
        <p:nvSpPr>
          <p:cNvPr id="39" name="Text 37"/>
          <p:cNvSpPr/>
          <p:nvPr/>
        </p:nvSpPr>
        <p:spPr>
          <a:xfrm>
            <a:off x="1003300" y="3276402"/>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What we hide</a:t>
            </a:r>
            <a:endParaRPr lang="en-US" sz="1600" dirty="0"/>
          </a:p>
        </p:txBody>
      </p:sp>
      <p:sp>
        <p:nvSpPr>
          <p:cNvPr id="40" name="Text 38"/>
          <p:cNvSpPr/>
          <p:nvPr/>
        </p:nvSpPr>
        <p:spPr>
          <a:xfrm>
            <a:off x="1003300" y="3583682"/>
            <a:ext cx="3113278"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Frames: every 2nd hidden, or only every 4th kept. Slices: every 2nd hidden (a 20 mm gap).</a:t>
            </a:r>
            <a:endParaRPr lang="en-US" sz="1300" dirty="0"/>
          </a:p>
        </p:txBody>
      </p:sp>
      <p:sp>
        <p:nvSpPr>
          <p:cNvPr id="41" name="Shape 39"/>
          <p:cNvSpPr/>
          <p:nvPr/>
        </p:nvSpPr>
        <p:spPr>
          <a:xfrm>
            <a:off x="4394200" y="3085902"/>
            <a:ext cx="3403600" cy="2756098"/>
          </a:xfrm>
          <a:prstGeom prst="roundRect">
            <a:avLst>
              <a:gd name="adj" fmla="val 3686"/>
            </a:avLst>
          </a:prstGeom>
          <a:solidFill>
            <a:srgbClr val="F4F1EC"/>
          </a:solidFill>
          <a:ln/>
        </p:spPr>
      </p:sp>
      <p:sp>
        <p:nvSpPr>
          <p:cNvPr id="42" name="Text 40"/>
          <p:cNvSpPr/>
          <p:nvPr/>
        </p:nvSpPr>
        <p:spPr>
          <a:xfrm>
            <a:off x="4584700" y="3276402"/>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What we compare</a:t>
            </a:r>
            <a:endParaRPr lang="en-US" sz="1600" dirty="0"/>
          </a:p>
        </p:txBody>
      </p:sp>
      <p:sp>
        <p:nvSpPr>
          <p:cNvPr id="43" name="Text 41"/>
          <p:cNvSpPr/>
          <p:nvPr/>
        </p:nvSpPr>
        <p:spPr>
          <a:xfrm>
            <a:off x="4584700" y="3583682"/>
            <a:ext cx="3113278"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Linear interpolation from the same known data, and a ReLU network with the same 198,913 weights.</a:t>
            </a:r>
            <a:endParaRPr lang="en-US" sz="1300" dirty="0"/>
          </a:p>
        </p:txBody>
      </p:sp>
      <p:sp>
        <p:nvSpPr>
          <p:cNvPr id="44" name="Shape 42"/>
          <p:cNvSpPr/>
          <p:nvPr/>
        </p:nvSpPr>
        <p:spPr>
          <a:xfrm>
            <a:off x="7975600" y="3085902"/>
            <a:ext cx="3403600" cy="2756098"/>
          </a:xfrm>
          <a:prstGeom prst="roundRect">
            <a:avLst>
              <a:gd name="adj" fmla="val 3686"/>
            </a:avLst>
          </a:prstGeom>
          <a:solidFill>
            <a:srgbClr val="F4F1EC"/>
          </a:solidFill>
          <a:ln/>
        </p:spPr>
      </p:sp>
      <p:sp>
        <p:nvSpPr>
          <p:cNvPr id="45" name="Text 43"/>
          <p:cNvSpPr/>
          <p:nvPr/>
        </p:nvSpPr>
        <p:spPr>
          <a:xfrm>
            <a:off x="8166100" y="3276402"/>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What we score</a:t>
            </a:r>
            <a:endParaRPr lang="en-US" sz="1600" dirty="0"/>
          </a:p>
        </p:txBody>
      </p:sp>
      <p:sp>
        <p:nvSpPr>
          <p:cNvPr id="46" name="Text 44"/>
          <p:cNvSpPr/>
          <p:nvPr/>
        </p:nvSpPr>
        <p:spPr>
          <a:xfrm>
            <a:off x="8166100" y="3583682"/>
            <a:ext cx="3113278"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PSNR inside the heart (expert labels), plus SSIM. Only on hidden data. +10 dB = 10× smaller error.</a:t>
            </a:r>
            <a:endParaRPr lang="en-US" sz="1300" dirty="0"/>
          </a:p>
        </p:txBody>
      </p:sp>
      <p:sp>
        <p:nvSpPr>
          <p:cNvPr id="47" name="Text 4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48" name="Text 4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3" name="Text 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7</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RESULT 1</a:t>
            </a:r>
            <a:endParaRPr lang="en-US" sz="1200" dirty="0"/>
          </a:p>
        </p:txBody>
      </p:sp>
      <p:sp>
        <p:nvSpPr>
          <p:cNvPr id="5" name="Text 3"/>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SIREN beats a ReLU network of the same size</a:t>
            </a:r>
            <a:endParaRPr lang="en-US" sz="3200" dirty="0"/>
          </a:p>
        </p:txBody>
      </p:sp>
      <p:pic>
        <p:nvPicPr>
          <p:cNvPr id="6" name="Image 0" descr="Ground truth: hidden frame 6, mid slice">    </p:cNvPr>
          <p:cNvPicPr>
            <a:picLocks noChangeAspect="1"/>
          </p:cNvPicPr>
          <p:nvPr/>
        </p:nvPicPr>
        <p:blipFill>
          <a:blip r:embed="rId1"/>
          <a:srcRect l="0" r="0" t="0" b="0"/>
          <a:stretch/>
        </p:blipFill>
        <p:spPr>
          <a:xfrm>
            <a:off x="812800" y="1778000"/>
            <a:ext cx="2032000" cy="2032000"/>
          </a:xfrm>
          <a:prstGeom prst="roundRect">
            <a:avLst>
              <a:gd name="adj" fmla="val 3125"/>
            </a:avLst>
          </a:prstGeom>
        </p:spPr>
      </p:pic>
      <p:sp>
        <p:nvSpPr>
          <p:cNvPr id="7" name="Text 4"/>
          <p:cNvSpPr/>
          <p:nvPr/>
        </p:nvSpPr>
        <p:spPr>
          <a:xfrm>
            <a:off x="812800" y="3860800"/>
            <a:ext cx="20929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1A1F"/>
                </a:solidFill>
                <a:latin typeface="Arial" pitchFamily="34" charset="0"/>
                <a:ea typeface="Arial" pitchFamily="34" charset="-122"/>
                <a:cs typeface="Arial" pitchFamily="34" charset="-120"/>
              </a:rPr>
              <a:t>Truth (hidden)</a:t>
            </a:r>
            <a:endParaRPr lang="en-US" sz="1300" dirty="0"/>
          </a:p>
        </p:txBody>
      </p:sp>
      <p:pic>
        <p:nvPicPr>
          <p:cNvPr id="8" name="Image 1" descr="Linear interpolation of hidden frame 6">    </p:cNvPr>
          <p:cNvPicPr>
            <a:picLocks noChangeAspect="1"/>
          </p:cNvPicPr>
          <p:nvPr/>
        </p:nvPicPr>
        <p:blipFill>
          <a:blip r:embed="rId2"/>
          <a:srcRect l="0" r="0" t="0" b="0"/>
          <a:stretch/>
        </p:blipFill>
        <p:spPr>
          <a:xfrm>
            <a:off x="3022600" y="1778000"/>
            <a:ext cx="2032000" cy="2032000"/>
          </a:xfrm>
          <a:prstGeom prst="roundRect">
            <a:avLst>
              <a:gd name="adj" fmla="val 3125"/>
            </a:avLst>
          </a:prstGeom>
        </p:spPr>
      </p:pic>
      <p:sp>
        <p:nvSpPr>
          <p:cNvPr id="9" name="Text 5"/>
          <p:cNvSpPr/>
          <p:nvPr/>
        </p:nvSpPr>
        <p:spPr>
          <a:xfrm>
            <a:off x="3022600" y="3860800"/>
            <a:ext cx="20929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690"/>
                </a:solidFill>
                <a:latin typeface="Arial" pitchFamily="34" charset="0"/>
                <a:ea typeface="Arial" pitchFamily="34" charset="-122"/>
                <a:cs typeface="Arial" pitchFamily="34" charset="-120"/>
              </a:rPr>
              <a:t>Interpolation</a:t>
            </a:r>
            <a:r>
              <a:rPr lang="en-US" sz="1300" dirty="0">
                <a:solidFill>
                  <a:srgbClr val="2F6690"/>
                </a:solidFill>
                <a:latin typeface="Arial" pitchFamily="34" charset="0"/>
                <a:ea typeface="Arial" pitchFamily="34" charset="-122"/>
                <a:cs typeface="Arial" pitchFamily="34" charset="-120"/>
              </a:rPr>
              <a:t> 25.7 dB</a:t>
            </a:r>
            <a:endParaRPr lang="en-US" sz="1300" dirty="0"/>
          </a:p>
        </p:txBody>
      </p:sp>
      <p:pic>
        <p:nvPicPr>
          <p:cNvPr id="10" name="Image 2" descr="SIREN prediction of hidden frame 6, sharp">    </p:cNvPr>
          <p:cNvPicPr>
            <a:picLocks noChangeAspect="1"/>
          </p:cNvPicPr>
          <p:nvPr/>
        </p:nvPicPr>
        <p:blipFill>
          <a:blip r:embed="rId3"/>
          <a:srcRect l="0" r="0" t="0" b="0"/>
          <a:stretch/>
        </p:blipFill>
        <p:spPr>
          <a:xfrm>
            <a:off x="5232400" y="1778000"/>
            <a:ext cx="2032000" cy="2032000"/>
          </a:xfrm>
          <a:prstGeom prst="roundRect">
            <a:avLst>
              <a:gd name="adj" fmla="val 3125"/>
            </a:avLst>
          </a:prstGeom>
        </p:spPr>
      </p:pic>
      <p:sp>
        <p:nvSpPr>
          <p:cNvPr id="11" name="Text 6"/>
          <p:cNvSpPr/>
          <p:nvPr/>
        </p:nvSpPr>
        <p:spPr>
          <a:xfrm>
            <a:off x="5232400" y="3860800"/>
            <a:ext cx="20929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22A"/>
                </a:solidFill>
                <a:latin typeface="Arial" pitchFamily="34" charset="0"/>
                <a:ea typeface="Arial" pitchFamily="34" charset="-122"/>
                <a:cs typeface="Arial" pitchFamily="34" charset="-120"/>
              </a:rPr>
              <a:t>SIREN</a:t>
            </a:r>
            <a:r>
              <a:rPr lang="en-US" sz="1300" dirty="0">
                <a:solidFill>
                  <a:srgbClr val="B8322A"/>
                </a:solidFill>
                <a:latin typeface="Arial" pitchFamily="34" charset="0"/>
                <a:ea typeface="Arial" pitchFamily="34" charset="-122"/>
                <a:cs typeface="Arial" pitchFamily="34" charset="-120"/>
              </a:rPr>
              <a:t> 26.5 dB</a:t>
            </a:r>
            <a:endParaRPr lang="en-US" sz="1300" dirty="0"/>
          </a:p>
        </p:txBody>
      </p:sp>
      <p:pic>
        <p:nvPicPr>
          <p:cNvPr id="12" name="Image 3" descr="ReLU network prediction of hidden frame 6, a blurry blob">    </p:cNvPr>
          <p:cNvPicPr>
            <a:picLocks noChangeAspect="1"/>
          </p:cNvPicPr>
          <p:nvPr/>
        </p:nvPicPr>
        <p:blipFill>
          <a:blip r:embed="rId4"/>
          <a:srcRect l="0" r="0" t="0" b="0"/>
          <a:stretch/>
        </p:blipFill>
        <p:spPr>
          <a:xfrm>
            <a:off x="7442200" y="1778000"/>
            <a:ext cx="2032000" cy="2032000"/>
          </a:xfrm>
          <a:prstGeom prst="roundRect">
            <a:avLst>
              <a:gd name="adj" fmla="val 3125"/>
            </a:avLst>
          </a:prstGeom>
        </p:spPr>
      </p:pic>
      <p:sp>
        <p:nvSpPr>
          <p:cNvPr id="13" name="Text 7"/>
          <p:cNvSpPr/>
          <p:nvPr/>
        </p:nvSpPr>
        <p:spPr>
          <a:xfrm>
            <a:off x="7442200" y="3860800"/>
            <a:ext cx="20929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A6570"/>
                </a:solidFill>
                <a:latin typeface="Arial" pitchFamily="34" charset="0"/>
                <a:ea typeface="Arial" pitchFamily="34" charset="-122"/>
                <a:cs typeface="Arial" pitchFamily="34" charset="-120"/>
              </a:rPr>
              <a:t>ReLU</a:t>
            </a:r>
            <a:r>
              <a:rPr lang="en-US" sz="1300" dirty="0">
                <a:solidFill>
                  <a:srgbClr val="6A6570"/>
                </a:solidFill>
                <a:latin typeface="Arial" pitchFamily="34" charset="0"/>
                <a:ea typeface="Arial" pitchFamily="34" charset="-122"/>
                <a:cs typeface="Arial" pitchFamily="34" charset="-120"/>
              </a:rPr>
              <a:t> 21.8 dB</a:t>
            </a:r>
            <a:endParaRPr lang="en-US" sz="1300" dirty="0"/>
          </a:p>
        </p:txBody>
      </p:sp>
      <p:sp>
        <p:nvSpPr>
          <p:cNvPr id="14" name="Text 8"/>
          <p:cNvSpPr/>
          <p:nvPr/>
        </p:nvSpPr>
        <p:spPr>
          <a:xfrm>
            <a:off x="812800" y="431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Hidden frame 6 of 30 (only every 4th frame shown), mid‑ventricle slice. dB = PSNR in the heart for this frame.</a:t>
            </a:r>
            <a:endParaRPr lang="en-US" sz="1200" dirty="0"/>
          </a:p>
        </p:txBody>
      </p:sp>
      <p:sp>
        <p:nvSpPr>
          <p:cNvPr id="15" name="Shape 9"/>
          <p:cNvSpPr/>
          <p:nvPr/>
        </p:nvSpPr>
        <p:spPr>
          <a:xfrm>
            <a:off x="812800" y="4762500"/>
            <a:ext cx="5187950" cy="1085850"/>
          </a:xfrm>
          <a:prstGeom prst="roundRect">
            <a:avLst>
              <a:gd name="adj" fmla="val 9357"/>
            </a:avLst>
          </a:prstGeom>
          <a:solidFill>
            <a:srgbClr val="1C1A1F"/>
          </a:solidFill>
          <a:ln/>
        </p:spPr>
      </p:sp>
      <p:sp>
        <p:nvSpPr>
          <p:cNvPr id="16" name="Text 10"/>
          <p:cNvSpPr/>
          <p:nvPr/>
        </p:nvSpPr>
        <p:spPr>
          <a:xfrm>
            <a:off x="1041400" y="4958755"/>
            <a:ext cx="2629281" cy="718641"/>
          </a:xfrm>
          <a:prstGeom prst="rect">
            <a:avLst/>
          </a:prstGeom>
          <a:noFill/>
          <a:ln/>
        </p:spPr>
        <p:txBody>
          <a:bodyPr wrap="square" lIns="0" tIns="0" rIns="0" bIns="0" rtlCol="0" anchor="t">
            <a:normAutofit/>
          </a:bodyPr>
          <a:lstStyle/>
          <a:p>
            <a:pPr algn="just" indent="0" marL="0">
              <a:lnSpc>
                <a:spcPts val="1820"/>
              </a:lnSpc>
              <a:buNone/>
            </a:pPr>
            <a:r>
              <a:rPr lang="en-US" sz="1300" dirty="0">
                <a:solidFill>
                  <a:srgbClr val="EDE8E1"/>
                </a:solidFill>
                <a:latin typeface="Arial" pitchFamily="34" charset="0"/>
                <a:ea typeface="Arial" pitchFamily="34" charset="-122"/>
                <a:cs typeface="Arial" pitchFamily="34" charset="-120"/>
              </a:rPr>
              <a:t>28.9 vs 22.3 dB over all 21 hidden</a:t>
            </a:r>
            <a:endParaRPr lang="en-US" sz="1300" dirty="0"/>
          </a:p>
          <a:p>
            <a:pPr algn="just" indent="0" marL="0">
              <a:lnSpc>
                <a:spcPts val="1820"/>
              </a:lnSpc>
              <a:buNone/>
            </a:pPr>
            <a:r>
              <a:rPr lang="en-US" sz="1300" dirty="0">
                <a:solidFill>
                  <a:srgbClr val="EDE8E1"/>
                </a:solidFill>
                <a:latin typeface="Arial" pitchFamily="34" charset="0"/>
                <a:ea typeface="Arial" pitchFamily="34" charset="-122"/>
                <a:cs typeface="Arial" pitchFamily="34" charset="-120"/>
              </a:rPr>
              <a:t> frames, same 198,913 weights,</a:t>
            </a:r>
            <a:endParaRPr lang="en-US" sz="1300" dirty="0"/>
          </a:p>
          <a:p>
            <a:pPr algn="just" indent="0" marL="0">
              <a:lnSpc>
                <a:spcPts val="1820"/>
              </a:lnSpc>
              <a:buNone/>
            </a:pPr>
            <a:r>
              <a:rPr lang="en-US" sz="1300" dirty="0">
                <a:solidFill>
                  <a:srgbClr val="EDE8E1"/>
                </a:solidFill>
                <a:latin typeface="Arial" pitchFamily="34" charset="0"/>
                <a:ea typeface="Arial" pitchFamily="34" charset="-122"/>
                <a:cs typeface="Arial" pitchFamily="34" charset="-120"/>
              </a:rPr>
              <a:t> same training.</a:t>
            </a:r>
            <a:endParaRPr lang="en-US" sz="1300" dirty="0"/>
          </a:p>
        </p:txBody>
      </p:sp>
      <p:sp>
        <p:nvSpPr>
          <p:cNvPr id="17" name="Text 11"/>
          <p:cNvSpPr/>
          <p:nvPr/>
        </p:nvSpPr>
        <p:spPr>
          <a:xfrm>
            <a:off x="3771900" y="5109865"/>
            <a:ext cx="736600" cy="416520"/>
          </a:xfrm>
          <a:prstGeom prst="rect">
            <a:avLst/>
          </a:prstGeom>
          <a:noFill/>
          <a:ln/>
        </p:spPr>
        <p:txBody>
          <a:bodyPr wrap="none" lIns="0" tIns="0" rIns="0" bIns="0" rtlCol="0" anchor="t">
            <a:normAutofit/>
          </a:bodyPr>
          <a:lstStyle/>
          <a:p>
            <a:pPr algn="l" indent="0" marL="0">
              <a:lnSpc>
                <a:spcPts val="3080"/>
              </a:lnSpc>
              <a:buNone/>
            </a:pPr>
            <a:r>
              <a:rPr lang="en-US" sz="2200" b="1" dirty="0">
                <a:solidFill>
                  <a:srgbClr val="E8735F"/>
                </a:solidFill>
                <a:latin typeface="Courier New" pitchFamily="49" charset="0"/>
                <a:ea typeface="Courier New" pitchFamily="49" charset="-122"/>
                <a:cs typeface="Courier New" pitchFamily="49" charset="-120"/>
              </a:rPr>
              <a:t>+6.6 dB</a:t>
            </a:r>
            <a:endParaRPr lang="en-US" sz="2200" dirty="0"/>
          </a:p>
        </p:txBody>
      </p:sp>
      <p:sp>
        <p:nvSpPr>
          <p:cNvPr id="18" name="Shape 12"/>
          <p:cNvSpPr/>
          <p:nvPr/>
        </p:nvSpPr>
        <p:spPr>
          <a:xfrm>
            <a:off x="6181725" y="4765675"/>
            <a:ext cx="5194300" cy="1079500"/>
          </a:xfrm>
          <a:prstGeom prst="roundRect">
            <a:avLst>
              <a:gd name="adj" fmla="val 9118"/>
            </a:avLst>
          </a:prstGeom>
          <a:solidFill>
            <a:srgbClr val="FBF9F5"/>
          </a:solidFill>
          <a:ln w="6350">
            <a:solidFill>
              <a:srgbClr val="DDD6CB"/>
            </a:solidFill>
            <a:prstDash val="solid"/>
          </a:ln>
        </p:spPr>
      </p:sp>
      <p:sp>
        <p:nvSpPr>
          <p:cNvPr id="19" name="Text 13"/>
          <p:cNvSpPr/>
          <p:nvPr/>
        </p:nvSpPr>
        <p:spPr>
          <a:xfrm>
            <a:off x="6413500" y="5092105"/>
            <a:ext cx="1331218" cy="452041"/>
          </a:xfrm>
          <a:prstGeom prst="rect">
            <a:avLst/>
          </a:prstGeom>
          <a:noFill/>
          <a:ln/>
        </p:spPr>
        <p:txBody>
          <a:bodyPr wrap="none" lIns="0" tIns="0" rIns="0" bIns="0" rtlCol="0" anchor="t">
            <a:normAutofit/>
          </a:bodyPr>
          <a:lstStyle/>
          <a:p>
            <a:pPr algn="l" indent="0" marL="0">
              <a:lnSpc>
                <a:spcPts val="3360"/>
              </a:lnSpc>
              <a:buNone/>
            </a:pPr>
            <a:r>
              <a:rPr lang="en-US" sz="2400" b="1" dirty="0">
                <a:solidFill>
                  <a:srgbClr val="6A6570"/>
                </a:solidFill>
                <a:latin typeface="Courier New" pitchFamily="49" charset="0"/>
                <a:ea typeface="Courier New" pitchFamily="49" charset="-122"/>
                <a:cs typeface="Courier New" pitchFamily="49" charset="-120"/>
              </a:rPr>
              <a:t>24.5 dB</a:t>
            </a:r>
            <a:endParaRPr lang="en-US" sz="2400" dirty="0"/>
          </a:p>
        </p:txBody>
      </p:sp>
      <p:sp>
        <p:nvSpPr>
          <p:cNvPr id="20" name="Text 14"/>
          <p:cNvSpPr/>
          <p:nvPr/>
        </p:nvSpPr>
        <p:spPr>
          <a:xfrm>
            <a:off x="7871718" y="5074345"/>
            <a:ext cx="315681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ReLU on the frames it </a:t>
            </a:r>
            <a:r>
              <a:rPr lang="en-US" sz="1300" i="1" dirty="0">
                <a:solidFill>
                  <a:srgbClr val="4B4752"/>
                </a:solidFill>
                <a:latin typeface="Arial" pitchFamily="34" charset="0"/>
                <a:ea typeface="Arial" pitchFamily="34" charset="-122"/>
                <a:cs typeface="Arial" pitchFamily="34" charset="-120"/>
              </a:rPr>
              <a:t>saw</a:t>
            </a:r>
            <a:r>
              <a:rPr lang="en-US" sz="1300" dirty="0">
                <a:solidFill>
                  <a:srgbClr val="4B4752"/>
                </a:solidFill>
                <a:latin typeface="Arial" pitchFamily="34" charset="0"/>
                <a:ea typeface="Arial" pitchFamily="34" charset="-122"/>
                <a:cs typeface="Arial" pitchFamily="34" charset="-120"/>
              </a:rPr>
              <a:t> (SIREN: 36.5).</a:t>
            </a:r>
            <a:endParaRPr lang="en-US" sz="1300" dirty="0"/>
          </a:p>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 It cannot learn fine detail at all.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2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RESULT 2</a:t>
            </a:r>
            <a:endParaRPr lang="en-US" sz="1200" dirty="0"/>
          </a:p>
        </p:txBody>
      </p:sp>
      <p:sp>
        <p:nvSpPr>
          <p:cNvPr id="3" name="Text 1"/>
          <p:cNvSpPr/>
          <p:nvPr>
            <p:ph type="title"/>
          </p:nvPr>
        </p:nvSpPr>
        <p:spPr>
          <a:xfrm>
            <a:off x="812800" y="1102221"/>
            <a:ext cx="10883392" cy="91886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Against interpolation: close, and ahead where the heart moves fastest</a:t>
            </a:r>
            <a:endParaRPr lang="en-US" sz="3200" dirty="0"/>
          </a:p>
        </p:txBody>
      </p:sp>
      <p:sp>
        <p:nvSpPr>
          <p:cNvPr id="4" name="Text 2"/>
          <p:cNvSpPr/>
          <p:nvPr/>
        </p:nvSpPr>
        <p:spPr>
          <a:xfrm>
            <a:off x="762000" y="4535686"/>
            <a:ext cx="381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26</a:t>
            </a:r>
            <a:endParaRPr lang="en-US" sz="1200" dirty="0"/>
          </a:p>
        </p:txBody>
      </p:sp>
      <p:sp>
        <p:nvSpPr>
          <p:cNvPr id="5" name="Text 3"/>
          <p:cNvSpPr/>
          <p:nvPr/>
        </p:nvSpPr>
        <p:spPr>
          <a:xfrm>
            <a:off x="762000" y="4027686"/>
            <a:ext cx="381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28</a:t>
            </a:r>
            <a:endParaRPr lang="en-US" sz="1200" dirty="0"/>
          </a:p>
        </p:txBody>
      </p:sp>
      <p:sp>
        <p:nvSpPr>
          <p:cNvPr id="6" name="Text 4"/>
          <p:cNvSpPr/>
          <p:nvPr/>
        </p:nvSpPr>
        <p:spPr>
          <a:xfrm>
            <a:off x="762000" y="3519686"/>
            <a:ext cx="381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30</a:t>
            </a:r>
            <a:endParaRPr lang="en-US" sz="1200" dirty="0"/>
          </a:p>
        </p:txBody>
      </p:sp>
      <p:sp>
        <p:nvSpPr>
          <p:cNvPr id="7" name="Text 5"/>
          <p:cNvSpPr/>
          <p:nvPr/>
        </p:nvSpPr>
        <p:spPr>
          <a:xfrm>
            <a:off x="762000" y="3011686"/>
            <a:ext cx="381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32</a:t>
            </a:r>
            <a:endParaRPr lang="en-US" sz="1200" dirty="0"/>
          </a:p>
        </p:txBody>
      </p:sp>
      <p:sp>
        <p:nvSpPr>
          <p:cNvPr id="8" name="Text 6"/>
          <p:cNvSpPr/>
          <p:nvPr/>
        </p:nvSpPr>
        <p:spPr>
          <a:xfrm>
            <a:off x="762000" y="2503686"/>
            <a:ext cx="381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34</a:t>
            </a:r>
            <a:endParaRPr lang="en-US" sz="1200" dirty="0"/>
          </a:p>
        </p:txBody>
      </p:sp>
      <p:pic>
        <p:nvPicPr>
          <p:cNvPr id="9" name="Image 0" descr="Heart-region PSNR for each of the 21 hidden frames: interpolation, SIREN and the blend">    </p:cNvPr>
          <p:cNvPicPr>
            <a:picLocks noChangeAspect="1"/>
          </p:cNvPicPr>
          <p:nvPr/>
        </p:nvPicPr>
        <p:blipFill>
          <a:blip r:embed="rId1"/>
          <a:srcRect l="0" r="0" t="0" b="0"/>
          <a:stretch/>
        </p:blipFill>
        <p:spPr>
          <a:xfrm>
            <a:off x="1193800" y="2224286"/>
            <a:ext cx="6350000" cy="3048000"/>
          </a:xfrm>
          <a:prstGeom prst="rect">
            <a:avLst/>
          </a:prstGeom>
        </p:spPr>
      </p:pic>
      <p:sp>
        <p:nvSpPr>
          <p:cNvPr id="10" name="Text 7"/>
          <p:cNvSpPr/>
          <p:nvPr/>
        </p:nvSpPr>
        <p:spPr>
          <a:xfrm>
            <a:off x="1193800" y="5334298"/>
            <a:ext cx="6540500" cy="2386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PSNR in the heart (dB) for each hidden frame 1 → 27; only every 4th frame shown</a:t>
            </a:r>
            <a:endParaRPr lang="en-US" sz="1200" dirty="0"/>
          </a:p>
        </p:txBody>
      </p:sp>
      <p:sp>
        <p:nvSpPr>
          <p:cNvPr id="11" name="Text 8"/>
          <p:cNvSpPr/>
          <p:nvPr/>
        </p:nvSpPr>
        <p:spPr>
          <a:xfrm>
            <a:off x="1193800" y="5611019"/>
            <a:ext cx="6540500" cy="25638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690"/>
                </a:solidFill>
                <a:latin typeface="Arial" pitchFamily="34" charset="0"/>
                <a:ea typeface="Arial" pitchFamily="34" charset="-122"/>
                <a:cs typeface="Arial" pitchFamily="34" charset="-120"/>
              </a:rPr>
              <a:t>━ interpolation</a:t>
            </a:r>
            <a:r>
              <a:rPr lang="en-US" sz="1300" dirty="0">
                <a:solidFill>
                  <a:srgbClr val="4B4752"/>
                </a:solidFill>
                <a:latin typeface="Arial" pitchFamily="34" charset="0"/>
                <a:ea typeface="Arial" pitchFamily="34" charset="-122"/>
                <a:cs typeface="Arial" pitchFamily="34" charset="-120"/>
              </a:rPr>
              <a:t> </a:t>
            </a:r>
            <a:r>
              <a:rPr lang="en-US" sz="1300" b="1" dirty="0">
                <a:solidFill>
                  <a:srgbClr val="B8322A"/>
                </a:solidFill>
                <a:latin typeface="Arial" pitchFamily="34" charset="0"/>
                <a:ea typeface="Arial" pitchFamily="34" charset="-122"/>
                <a:cs typeface="Arial" pitchFamily="34" charset="-120"/>
              </a:rPr>
              <a:t>━ SIREN</a:t>
            </a:r>
            <a:r>
              <a:rPr lang="en-US" sz="1300" dirty="0">
                <a:solidFill>
                  <a:srgbClr val="4B4752"/>
                </a:solidFill>
                <a:latin typeface="Arial" pitchFamily="34" charset="0"/>
                <a:ea typeface="Arial" pitchFamily="34" charset="-122"/>
                <a:cs typeface="Arial" pitchFamily="34" charset="-120"/>
              </a:rPr>
              <a:t> </a:t>
            </a:r>
            <a:r>
              <a:rPr lang="en-US" sz="1300" b="1" dirty="0">
                <a:solidFill>
                  <a:srgbClr val="1C1A1F"/>
                </a:solidFill>
                <a:latin typeface="Arial" pitchFamily="34" charset="0"/>
                <a:ea typeface="Arial" pitchFamily="34" charset="-122"/>
                <a:cs typeface="Arial" pitchFamily="34" charset="-120"/>
              </a:rPr>
              <a:t>╍ blend ½ + ½</a:t>
            </a:r>
            <a:endParaRPr lang="en-US" sz="1300" dirty="0"/>
          </a:p>
        </p:txBody>
      </p:sp>
      <p:sp>
        <p:nvSpPr>
          <p:cNvPr id="12" name="Text 9"/>
          <p:cNvSpPr/>
          <p:nvPr/>
        </p:nvSpPr>
        <p:spPr>
          <a:xfrm>
            <a:off x="2247900" y="2325886"/>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322A"/>
                </a:solidFill>
                <a:latin typeface="Arial" pitchFamily="34" charset="0"/>
                <a:ea typeface="Arial" pitchFamily="34" charset="-122"/>
                <a:cs typeface="Arial" pitchFamily="34" charset="-120"/>
              </a:rPr>
              <a:t>fast contraction</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861300" y="2236986"/>
          <a:ext cx="3517900" cy="2041525"/>
        </p:xfrm>
        <a:graphic>
          <a:graphicData uri="http://schemas.openxmlformats.org/drawingml/2006/table">
            <a:tbl>
              <a:tblPr/>
              <a:tblGrid>
                <a:gridCol w="1547876"/>
                <a:gridCol w="985012"/>
                <a:gridCol w="985012"/>
              </a:tblGrid>
              <a:tr h="883642">
                <a:tc>
                  <a:txBody>
                    <a:bodyPr/>
                    <a:lstStyle/>
                    <a:p>
                      <a:pPr indent="0" marL="0">
                        <a:lnSpc>
                          <a:spcPts val="1960"/>
                        </a:lnSpc>
                        <a:buNone/>
                      </a:pPr>
                      <a:r>
                        <a:rPr lang="en-US" sz="1400" b="1" dirty="0">
                          <a:solidFill>
                            <a:srgbClr val="1C1A1F"/>
                          </a:solidFill>
                          <a:latin typeface="Arial" pitchFamily="34" charset="0"/>
                          <a:ea typeface="Arial" pitchFamily="34" charset="-122"/>
                          <a:cs typeface="Arial" pitchFamily="34" charset="-120"/>
                        </a:rPr>
                        <a:t>dB, heart</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B5B2AF"/>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5B2AF"/>
                      </a:solidFill>
                      <a:prstDash val="solid"/>
                      <a:round/>
                      <a:headEnd type="none" w="med" len="med"/>
                      <a:tailEnd type="none" w="med" len="med"/>
                    </a:lnB>
                    <a:solidFill>
                      <a:srgbClr val="E2DFDB"/>
                    </a:solidFill>
                  </a:tcPr>
                </a:tc>
                <a:tc>
                  <a:txBody>
                    <a:bodyPr/>
                    <a:lstStyle/>
                    <a:p>
                      <a:pPr algn="r" indent="0" marL="0">
                        <a:lnSpc>
                          <a:spcPts val="1960"/>
                        </a:lnSpc>
                        <a:buNone/>
                      </a:pPr>
                      <a:r>
                        <a:rPr lang="en-US" sz="1400" b="1" dirty="0">
                          <a:solidFill>
                            <a:srgbClr val="1C1A1F"/>
                          </a:solidFill>
                          <a:latin typeface="Arial" pitchFamily="34" charset="0"/>
                          <a:ea typeface="Arial" pitchFamily="34" charset="-122"/>
                          <a:cs typeface="Arial" pitchFamily="34" charset="-120"/>
                        </a:rPr>
                        <a:t>every 2nd hidden</a:t>
                      </a:r>
                      <a:endParaRPr lang="en-US" sz="1400" dirty="0">
                        <a:latin typeface="Arial" charset="0"/>
                        <a:ea typeface="Arial" charset="0"/>
                        <a:cs typeface="Arial" charset="0"/>
                      </a:endParaRPr>
                    </a:p>
                  </a:txBody>
                  <a:tcPr marL="62230" marR="62230" marT="62230" marB="62230" anchor="t">
                    <a:lnL w="12700" cap="flat" cmpd="sng" algn="ctr">
                      <a:solidFill>
                        <a:srgbClr val="B5B2AF"/>
                      </a:solidFill>
                      <a:prstDash val="solid"/>
                      <a:round/>
                      <a:headEnd type="none" w="med" len="med"/>
                      <a:tailEnd type="none" w="med" len="med"/>
                    </a:lnL>
                    <a:lnR w="12700" cap="flat" cmpd="sng" algn="ctr">
                      <a:solidFill>
                        <a:srgbClr val="B5B2AF"/>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5B2AF"/>
                      </a:solidFill>
                      <a:prstDash val="solid"/>
                      <a:round/>
                      <a:headEnd type="none" w="med" len="med"/>
                      <a:tailEnd type="none" w="med" len="med"/>
                    </a:lnB>
                    <a:solidFill>
                      <a:srgbClr val="E2DFDB"/>
                    </a:solidFill>
                  </a:tcPr>
                </a:tc>
                <a:tc>
                  <a:txBody>
                    <a:bodyPr/>
                    <a:lstStyle/>
                    <a:p>
                      <a:pPr algn="r" indent="0" marL="0">
                        <a:lnSpc>
                          <a:spcPts val="1960"/>
                        </a:lnSpc>
                        <a:buNone/>
                      </a:pPr>
                      <a:r>
                        <a:rPr lang="en-US" sz="1400" b="1" dirty="0">
                          <a:solidFill>
                            <a:srgbClr val="1C1A1F"/>
                          </a:solidFill>
                          <a:latin typeface="Arial" pitchFamily="34" charset="0"/>
                          <a:ea typeface="Arial" pitchFamily="34" charset="-122"/>
                          <a:cs typeface="Arial" pitchFamily="34" charset="-120"/>
                        </a:rPr>
                        <a:t>every 4th kept</a:t>
                      </a:r>
                      <a:endParaRPr lang="en-US" sz="1400" dirty="0">
                        <a:latin typeface="Arial" charset="0"/>
                        <a:ea typeface="Arial" charset="0"/>
                        <a:cs typeface="Arial" charset="0"/>
                      </a:endParaRPr>
                    </a:p>
                  </a:txBody>
                  <a:tcPr marL="62230" marR="62230" marT="62230" marB="62230" anchor="t">
                    <a:lnL w="12700" cap="flat" cmpd="sng" algn="ctr">
                      <a:solidFill>
                        <a:srgbClr val="B5B2AF"/>
                      </a:solidFill>
                      <a:prstDash val="solid"/>
                      <a:round/>
                      <a:headEnd type="none" w="med" len="med"/>
                      <a:tailEnd type="none" w="med" len="med"/>
                    </a:lnL>
                    <a:lnR w="12700" cap="flat" cmpd="sng" algn="ctr">
                      <a:solidFill>
                        <a:srgbClr val="B5B2AF"/>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5B2AF"/>
                      </a:solidFill>
                      <a:prstDash val="solid"/>
                      <a:round/>
                      <a:headEnd type="none" w="med" len="med"/>
                      <a:tailEnd type="none" w="med" len="med"/>
                    </a:lnB>
                    <a:solidFill>
                      <a:srgbClr val="E2DFDB"/>
                    </a:solidFill>
                  </a:tcPr>
                </a:tc>
              </a:tr>
              <a:tr h="385961">
                <a:tc>
                  <a:txBody>
                    <a:bodyPr/>
                    <a:lstStyle/>
                    <a:p>
                      <a:pPr indent="0" marL="0">
                        <a:lnSpc>
                          <a:spcPts val="1960"/>
                        </a:lnSpc>
                        <a:buNone/>
                      </a:pPr>
                      <a:r>
                        <a:rPr lang="en-US" sz="1400" dirty="0">
                          <a:solidFill>
                            <a:srgbClr val="2F6690"/>
                          </a:solidFill>
                          <a:latin typeface="Arial" pitchFamily="34" charset="0"/>
                          <a:ea typeface="Arial" pitchFamily="34" charset="-122"/>
                          <a:cs typeface="Arial" pitchFamily="34" charset="-120"/>
                        </a:rPr>
                        <a:t>Interpolation</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5B2AF"/>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33.1</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5B2AF"/>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29.2</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5B2AF"/>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B8322A"/>
                          </a:solidFill>
                          <a:latin typeface="Arial" pitchFamily="34" charset="0"/>
                          <a:ea typeface="Arial" pitchFamily="34" charset="-122"/>
                          <a:cs typeface="Arial" pitchFamily="34" charset="-120"/>
                        </a:rPr>
                        <a:t>SIREN</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31.3</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28.9</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1A1F"/>
                          </a:solidFill>
                          <a:latin typeface="Arial" pitchFamily="34" charset="0"/>
                          <a:ea typeface="Arial" pitchFamily="34" charset="-122"/>
                          <a:cs typeface="Arial" pitchFamily="34" charset="-120"/>
                        </a:rPr>
                        <a:t>Blend ½ + ½</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BAB5AE"/>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AB5AE"/>
                      </a:solidFill>
                      <a:prstDash val="solid"/>
                      <a:round/>
                      <a:headEnd type="none" w="med" len="med"/>
                      <a:tailEnd type="none" w="med" len="med"/>
                    </a:lnB>
                    <a:solidFill>
                      <a:srgbClr val="E9E3DA"/>
                    </a:solidFill>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32.9</a:t>
                      </a:r>
                      <a:endParaRPr lang="en-US" sz="1400" dirty="0">
                        <a:latin typeface="Arial" charset="0"/>
                        <a:ea typeface="Arial" charset="0"/>
                        <a:cs typeface="Arial" charset="0"/>
                      </a:endParaRPr>
                    </a:p>
                  </a:txBody>
                  <a:tcPr marL="62230" marR="62230" marT="62230" marB="62230" anchor="t">
                    <a:lnL w="12700" cap="flat" cmpd="sng" algn="ctr">
                      <a:solidFill>
                        <a:srgbClr val="BAB5AE"/>
                      </a:solidFill>
                      <a:prstDash val="solid"/>
                      <a:round/>
                      <a:headEnd type="none" w="med" len="med"/>
                      <a:tailEnd type="none" w="med" len="med"/>
                    </a:lnL>
                    <a:lnR w="12700" cap="flat" cmpd="sng" algn="ctr">
                      <a:solidFill>
                        <a:srgbClr val="BAB5AE"/>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AB5AE"/>
                      </a:solidFill>
                      <a:prstDash val="solid"/>
                      <a:round/>
                      <a:headEnd type="none" w="med" len="med"/>
                      <a:tailEnd type="none" w="med" len="med"/>
                    </a:lnB>
                    <a:solidFill>
                      <a:srgbClr val="E9E3DA"/>
                    </a:solidFill>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29.7</a:t>
                      </a:r>
                      <a:endParaRPr lang="en-US" sz="1400" dirty="0">
                        <a:latin typeface="Arial" charset="0"/>
                        <a:ea typeface="Arial" charset="0"/>
                        <a:cs typeface="Arial" charset="0"/>
                      </a:endParaRPr>
                    </a:p>
                  </a:txBody>
                  <a:tcPr marL="62230" marR="62230" marT="62230" marB="62230" anchor="t">
                    <a:lnL w="12700" cap="flat" cmpd="sng" algn="ctr">
                      <a:solidFill>
                        <a:srgbClr val="BAB5AE"/>
                      </a:solidFill>
                      <a:prstDash val="solid"/>
                      <a:round/>
                      <a:headEnd type="none" w="med" len="med"/>
                      <a:tailEnd type="none" w="med" len="med"/>
                    </a:lnL>
                    <a:lnR w="12700" cap="flat" cmpd="sng" algn="ctr">
                      <a:solidFill>
                        <a:srgbClr val="BAB5AE"/>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AB5AE"/>
                      </a:solidFill>
                      <a:prstDash val="solid"/>
                      <a:round/>
                      <a:headEnd type="none" w="med" len="med"/>
                      <a:tailEnd type="none" w="med" len="med"/>
                    </a:lnB>
                    <a:solidFill>
                      <a:srgbClr val="E9E3DA"/>
                    </a:solidFill>
                  </a:tcPr>
                </a:tc>
              </a:tr>
            </a:tbl>
          </a:graphicData>
        </a:graphic>
      </p:graphicFrame>
      <p:sp>
        <p:nvSpPr>
          <p:cNvPr id="14" name="Text 10"/>
          <p:cNvSpPr/>
          <p:nvPr/>
        </p:nvSpPr>
        <p:spPr>
          <a:xfrm>
            <a:off x="7848600" y="4430911"/>
            <a:ext cx="363651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SIREN wins frames 5–7, where a straight line between two frames misses the motion.</a:t>
            </a:r>
            <a:endParaRPr lang="en-US" sz="1300" dirty="0"/>
          </a:p>
        </p:txBody>
      </p:sp>
      <p:sp>
        <p:nvSpPr>
          <p:cNvPr id="15" name="Text 11"/>
          <p:cNvSpPr/>
          <p:nvPr/>
        </p:nvSpPr>
        <p:spPr>
          <a:xfrm>
            <a:off x="7848600" y="5045472"/>
            <a:ext cx="363651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The blend wins </a:t>
            </a:r>
            <a:r>
              <a:rPr lang="en-US" sz="1300" b="1" dirty="0">
                <a:solidFill>
                  <a:srgbClr val="4B4752"/>
                </a:solidFill>
                <a:latin typeface="Arial" pitchFamily="34" charset="0"/>
                <a:ea typeface="Arial" pitchFamily="34" charset="-122"/>
                <a:cs typeface="Arial" pitchFamily="34" charset="-120"/>
              </a:rPr>
              <a:t>18 of 21</a:t>
            </a:r>
            <a:r>
              <a:rPr lang="en-US" sz="1300" dirty="0">
                <a:solidFill>
                  <a:srgbClr val="4B4752"/>
                </a:solidFill>
                <a:latin typeface="Arial" pitchFamily="34" charset="0"/>
                <a:ea typeface="Arial" pitchFamily="34" charset="-122"/>
                <a:cs typeface="Arial" pitchFamily="34" charset="-120"/>
              </a:rPr>
              <a:t> hidden frames. Its weight 0.5 was fixed before testing.</a:t>
            </a:r>
            <a:endParaRPr lang="en-US" sz="1300" dirty="0"/>
          </a:p>
        </p:txBody>
      </p:sp>
      <p:sp>
        <p:nvSpPr>
          <p:cNvPr id="16"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17" name="Text 1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E5D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RESULT 3</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Compression has a price, and we measured it</a:t>
            </a:r>
            <a:endParaRPr lang="en-US" sz="3200" dirty="0"/>
          </a:p>
        </p:txBody>
      </p:sp>
      <p:sp>
        <p:nvSpPr>
          <p:cNvPr id="4" name="Shape 2"/>
          <p:cNvSpPr/>
          <p:nvPr/>
        </p:nvSpPr>
        <p:spPr>
          <a:xfrm>
            <a:off x="812800" y="1854101"/>
            <a:ext cx="3403600" cy="2341662"/>
          </a:xfrm>
          <a:prstGeom prst="roundRect">
            <a:avLst>
              <a:gd name="adj" fmla="val 4339"/>
            </a:avLst>
          </a:prstGeom>
          <a:solidFill>
            <a:srgbClr val="F4F1EC"/>
          </a:solidFill>
          <a:ln/>
        </p:spPr>
      </p:sp>
      <p:sp>
        <p:nvSpPr>
          <p:cNvPr id="5" name="Text 3"/>
          <p:cNvSpPr/>
          <p:nvPr/>
        </p:nvSpPr>
        <p:spPr>
          <a:xfrm>
            <a:off x="1041400" y="208270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6570"/>
                </a:solidFill>
                <a:latin typeface="Arial" pitchFamily="34" charset="0"/>
                <a:ea typeface="Arial" pitchFamily="34" charset="-122"/>
                <a:cs typeface="Arial" pitchFamily="34" charset="-120"/>
              </a:rPr>
              <a:t>SIREN · HEART REGION</a:t>
            </a:r>
            <a:endParaRPr lang="en-US" sz="1200" dirty="0"/>
          </a:p>
        </p:txBody>
      </p:sp>
      <p:sp>
        <p:nvSpPr>
          <p:cNvPr id="6" name="Text 4"/>
          <p:cNvSpPr/>
          <p:nvPr/>
        </p:nvSpPr>
        <p:spPr>
          <a:xfrm>
            <a:off x="1041400" y="2384921"/>
            <a:ext cx="3034792" cy="61208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B8322A"/>
                </a:solidFill>
                <a:latin typeface="Courier New" pitchFamily="49" charset="0"/>
                <a:ea typeface="Courier New" pitchFamily="49" charset="-122"/>
                <a:cs typeface="Courier New" pitchFamily="49" charset="-120"/>
              </a:rPr>
              <a:t>16×</a:t>
            </a:r>
            <a:endParaRPr lang="en-US" sz="4400" dirty="0"/>
          </a:p>
        </p:txBody>
      </p:sp>
      <p:sp>
        <p:nvSpPr>
          <p:cNvPr id="7" name="Text 5"/>
          <p:cNvSpPr/>
          <p:nvPr/>
        </p:nvSpPr>
        <p:spPr>
          <a:xfrm>
            <a:off x="1041400" y="3060502"/>
            <a:ext cx="30347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fewer numbers than the voxels it replaces (8× smaller file)</a:t>
            </a:r>
            <a:endParaRPr lang="en-US" sz="1300" dirty="0"/>
          </a:p>
        </p:txBody>
      </p:sp>
      <p:sp>
        <p:nvSpPr>
          <p:cNvPr id="8" name="Text 6"/>
          <p:cNvSpPr/>
          <p:nvPr/>
        </p:nvSpPr>
        <p:spPr>
          <a:xfrm>
            <a:off x="1041400" y="3611563"/>
            <a:ext cx="30347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C1A1F"/>
                </a:solidFill>
                <a:latin typeface="Courier New" pitchFamily="49" charset="0"/>
                <a:ea typeface="Courier New" pitchFamily="49" charset="-122"/>
                <a:cs typeface="Courier New" pitchFamily="49" charset="-120"/>
              </a:rPr>
              <a:t>28.9 dB</a:t>
            </a:r>
            <a:endParaRPr lang="en-US" sz="2000" dirty="0"/>
          </a:p>
        </p:txBody>
      </p:sp>
      <p:sp>
        <p:nvSpPr>
          <p:cNvPr id="9" name="Shape 7"/>
          <p:cNvSpPr/>
          <p:nvPr/>
        </p:nvSpPr>
        <p:spPr>
          <a:xfrm>
            <a:off x="4394200" y="1854101"/>
            <a:ext cx="3403600" cy="2341662"/>
          </a:xfrm>
          <a:prstGeom prst="roundRect">
            <a:avLst>
              <a:gd name="adj" fmla="val 4339"/>
            </a:avLst>
          </a:prstGeom>
          <a:solidFill>
            <a:srgbClr val="1C1A1F"/>
          </a:solidFill>
          <a:ln/>
        </p:spPr>
      </p:sp>
      <p:sp>
        <p:nvSpPr>
          <p:cNvPr id="10" name="Text 8"/>
          <p:cNvSpPr/>
          <p:nvPr/>
        </p:nvSpPr>
        <p:spPr>
          <a:xfrm>
            <a:off x="4622800" y="208270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B2A8"/>
                </a:solidFill>
                <a:latin typeface="Arial" pitchFamily="34" charset="0"/>
                <a:ea typeface="Arial" pitchFamily="34" charset="-122"/>
                <a:cs typeface="Arial" pitchFamily="34" charset="-120"/>
              </a:rPr>
              <a:t>SIREN · WHOLE SCAN</a:t>
            </a:r>
            <a:endParaRPr lang="en-US" sz="1200" dirty="0"/>
          </a:p>
        </p:txBody>
      </p:sp>
      <p:sp>
        <p:nvSpPr>
          <p:cNvPr id="11" name="Text 9"/>
          <p:cNvSpPr/>
          <p:nvPr/>
        </p:nvSpPr>
        <p:spPr>
          <a:xfrm>
            <a:off x="4622800" y="2384921"/>
            <a:ext cx="3034792" cy="61208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E8735F"/>
                </a:solidFill>
                <a:latin typeface="Courier New" pitchFamily="49" charset="0"/>
                <a:ea typeface="Courier New" pitchFamily="49" charset="-122"/>
                <a:cs typeface="Courier New" pitchFamily="49" charset="-120"/>
              </a:rPr>
              <a:t>86×</a:t>
            </a:r>
            <a:endParaRPr lang="en-US" sz="4400" dirty="0"/>
          </a:p>
        </p:txBody>
      </p:sp>
      <p:sp>
        <p:nvSpPr>
          <p:cNvPr id="12" name="Text 10"/>
          <p:cNvSpPr/>
          <p:nvPr/>
        </p:nvSpPr>
        <p:spPr>
          <a:xfrm>
            <a:off x="4622800" y="3060502"/>
            <a:ext cx="30347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8E1"/>
                </a:solidFill>
                <a:latin typeface="Arial" pitchFamily="34" charset="0"/>
                <a:ea typeface="Arial" pitchFamily="34" charset="-122"/>
                <a:cs typeface="Arial" pitchFamily="34" charset="-120"/>
              </a:rPr>
              <a:t>fewer numbers, the target from our midterm (43× smaller file)</a:t>
            </a:r>
            <a:endParaRPr lang="en-US" sz="1300" dirty="0"/>
          </a:p>
        </p:txBody>
      </p:sp>
      <p:sp>
        <p:nvSpPr>
          <p:cNvPr id="13" name="Text 11"/>
          <p:cNvSpPr/>
          <p:nvPr/>
        </p:nvSpPr>
        <p:spPr>
          <a:xfrm>
            <a:off x="4622800" y="3611563"/>
            <a:ext cx="30347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DE8E1"/>
                </a:solidFill>
                <a:latin typeface="Courier New" pitchFamily="49" charset="0"/>
                <a:ea typeface="Courier New" pitchFamily="49" charset="-122"/>
                <a:cs typeface="Courier New" pitchFamily="49" charset="-120"/>
              </a:rPr>
              <a:t>27.5 dB</a:t>
            </a:r>
            <a:endParaRPr lang="en-US" sz="2000" dirty="0"/>
          </a:p>
        </p:txBody>
      </p:sp>
      <p:sp>
        <p:nvSpPr>
          <p:cNvPr id="14" name="Shape 12"/>
          <p:cNvSpPr/>
          <p:nvPr/>
        </p:nvSpPr>
        <p:spPr>
          <a:xfrm>
            <a:off x="7975600" y="1854101"/>
            <a:ext cx="3403600" cy="2341662"/>
          </a:xfrm>
          <a:prstGeom prst="roundRect">
            <a:avLst>
              <a:gd name="adj" fmla="val 4339"/>
            </a:avLst>
          </a:prstGeom>
          <a:solidFill>
            <a:srgbClr val="F4F1EC"/>
          </a:solidFill>
          <a:ln/>
        </p:spPr>
      </p:sp>
      <p:sp>
        <p:nvSpPr>
          <p:cNvPr id="15" name="Text 13"/>
          <p:cNvSpPr/>
          <p:nvPr/>
        </p:nvSpPr>
        <p:spPr>
          <a:xfrm>
            <a:off x="8204200" y="208270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6570"/>
                </a:solidFill>
                <a:latin typeface="Arial" pitchFamily="34" charset="0"/>
                <a:ea typeface="Arial" pitchFamily="34" charset="-122"/>
                <a:cs typeface="Arial" pitchFamily="34" charset="-120"/>
              </a:rPr>
              <a:t>INTERPOLATION</a:t>
            </a:r>
            <a:endParaRPr lang="en-US" sz="1200" dirty="0"/>
          </a:p>
        </p:txBody>
      </p:sp>
      <p:sp>
        <p:nvSpPr>
          <p:cNvPr id="16" name="Text 14"/>
          <p:cNvSpPr/>
          <p:nvPr/>
        </p:nvSpPr>
        <p:spPr>
          <a:xfrm>
            <a:off x="8204200" y="2384921"/>
            <a:ext cx="3034792" cy="61208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2F6690"/>
                </a:solidFill>
                <a:latin typeface="Courier New" pitchFamily="49" charset="0"/>
                <a:ea typeface="Courier New" pitchFamily="49" charset="-122"/>
                <a:cs typeface="Courier New" pitchFamily="49" charset="-120"/>
              </a:rPr>
              <a:t>1×</a:t>
            </a:r>
            <a:endParaRPr lang="en-US" sz="4400" dirty="0"/>
          </a:p>
        </p:txBody>
      </p:sp>
      <p:sp>
        <p:nvSpPr>
          <p:cNvPr id="17" name="Text 15"/>
          <p:cNvSpPr/>
          <p:nvPr/>
        </p:nvSpPr>
        <p:spPr>
          <a:xfrm>
            <a:off x="8204200" y="3060502"/>
            <a:ext cx="30347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4752"/>
                </a:solidFill>
                <a:latin typeface="Arial" pitchFamily="34" charset="0"/>
                <a:ea typeface="Arial" pitchFamily="34" charset="-122"/>
                <a:cs typeface="Arial" pitchFamily="34" charset="-120"/>
              </a:rPr>
              <a:t>keeps every stored frame; no compression at all</a:t>
            </a:r>
            <a:endParaRPr lang="en-US" sz="1300" dirty="0"/>
          </a:p>
        </p:txBody>
      </p:sp>
      <p:sp>
        <p:nvSpPr>
          <p:cNvPr id="18" name="Text 16"/>
          <p:cNvSpPr/>
          <p:nvPr/>
        </p:nvSpPr>
        <p:spPr>
          <a:xfrm>
            <a:off x="8204200" y="3611563"/>
            <a:ext cx="30347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C1A1F"/>
                </a:solidFill>
                <a:latin typeface="Courier New" pitchFamily="49" charset="0"/>
                <a:ea typeface="Courier New" pitchFamily="49" charset="-122"/>
                <a:cs typeface="Courier New" pitchFamily="49" charset="-120"/>
              </a:rPr>
              <a:t>29.2 dB</a:t>
            </a:r>
            <a:endParaRPr lang="en-US" sz="2000" dirty="0"/>
          </a:p>
        </p:txBody>
      </p:sp>
      <p:sp>
        <p:nvSpPr>
          <p:cNvPr id="19" name="Shape 17"/>
          <p:cNvSpPr/>
          <p:nvPr/>
        </p:nvSpPr>
        <p:spPr>
          <a:xfrm>
            <a:off x="812800" y="4510088"/>
            <a:ext cx="5194300" cy="0"/>
          </a:xfrm>
          <a:prstGeom prst="line">
            <a:avLst/>
          </a:prstGeom>
          <a:noFill/>
          <a:ln w="19050">
            <a:solidFill>
              <a:srgbClr val="1C1A1F"/>
            </a:solidFill>
            <a:prstDash val="solid"/>
          </a:ln>
        </p:spPr>
      </p:sp>
      <p:sp>
        <p:nvSpPr>
          <p:cNvPr id="20" name="Text 18"/>
          <p:cNvSpPr/>
          <p:nvPr/>
        </p:nvSpPr>
        <p:spPr>
          <a:xfrm>
            <a:off x="812800" y="4646613"/>
            <a:ext cx="5350129"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The same 198,913 weights: stretched over the whole scan they lose 1.4 dB in the heart.</a:t>
            </a:r>
            <a:endParaRPr lang="en-US" sz="1300" dirty="0"/>
          </a:p>
        </p:txBody>
      </p:sp>
      <p:sp>
        <p:nvSpPr>
          <p:cNvPr id="21" name="Shape 19"/>
          <p:cNvSpPr/>
          <p:nvPr/>
        </p:nvSpPr>
        <p:spPr>
          <a:xfrm>
            <a:off x="6184900" y="4510088"/>
            <a:ext cx="5194300" cy="0"/>
          </a:xfrm>
          <a:prstGeom prst="line">
            <a:avLst/>
          </a:prstGeom>
          <a:noFill/>
          <a:ln w="19050">
            <a:solidFill>
              <a:srgbClr val="1C1A1F"/>
            </a:solidFill>
            <a:prstDash val="solid"/>
          </a:ln>
        </p:spPr>
      </p:sp>
      <p:sp>
        <p:nvSpPr>
          <p:cNvPr id="22" name="Text 20"/>
          <p:cNvSpPr/>
          <p:nvPr/>
        </p:nvSpPr>
        <p:spPr>
          <a:xfrm>
            <a:off x="6184900" y="4646613"/>
            <a:ext cx="5350129"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A 4× larger network (512 neurons) gave the same 28.9 dB: size is not the bottleneck.</a:t>
            </a:r>
            <a:endParaRPr lang="en-US" sz="13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dB = PSNR in the heart on hidden frames, every 4th frame kept</a:t>
            </a:r>
            <a:endParaRPr lang="en-US" sz="1200" dirty="0"/>
          </a:p>
        </p:txBody>
      </p:sp>
      <p:sp>
        <p:nvSpPr>
          <p:cNvPr id="24"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18579"/>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B8322A"/>
                </a:solidFill>
                <a:latin typeface="Arial" pitchFamily="34" charset="0"/>
                <a:ea typeface="Arial" pitchFamily="34" charset="-122"/>
                <a:cs typeface="Arial" pitchFamily="34" charset="-120"/>
              </a:rPr>
              <a:t>RESULT 4</a:t>
            </a:r>
            <a:endParaRPr lang="en-US" sz="1088" dirty="0"/>
          </a:p>
        </p:txBody>
      </p:sp>
      <p:sp>
        <p:nvSpPr>
          <p:cNvPr id="3" name="Text 1"/>
          <p:cNvSpPr/>
          <p:nvPr>
            <p:ph type="title"/>
          </p:nvPr>
        </p:nvSpPr>
        <p:spPr>
          <a:xfrm>
            <a:off x="812800" y="1082179"/>
            <a:ext cx="11379200" cy="835025"/>
          </a:xfrm>
          <a:prstGeom prst="rect">
            <a:avLst/>
          </a:prstGeom>
          <a:noFill/>
          <a:ln/>
        </p:spPr>
        <p:txBody>
          <a:bodyPr wrap="square" lIns="0" tIns="0" rIns="0" bIns="0" rtlCol="0" anchor="t">
            <a:normAutofit/>
          </a:bodyPr>
          <a:lstStyle/>
          <a:p>
            <a:pPr algn="l" indent="0" marL="0">
              <a:lnSpc>
                <a:spcPts val="3212"/>
              </a:lnSpc>
              <a:buNone/>
            </a:pPr>
            <a:r>
              <a:rPr lang="en-US" sz="2920" b="1" i="0" dirty="0">
                <a:solidFill>
                  <a:srgbClr val="1C1A1F"/>
                </a:solidFill>
                <a:latin typeface="Georgia" pitchFamily="18" charset="0"/>
                <a:ea typeface="Georgia" pitchFamily="18" charset="-122"/>
                <a:cs typeface="Georgia" pitchFamily="18" charset="-120"/>
              </a:rPr>
              <a:t>Between slices: a smooth heart instead of 10 mm blocks</a:t>
            </a:r>
            <a:endParaRPr lang="en-US" sz="2920" dirty="0"/>
          </a:p>
        </p:txBody>
      </p:sp>
      <p:sp>
        <p:nvSpPr>
          <p:cNvPr id="4" name="Text 2"/>
          <p:cNvSpPr/>
          <p:nvPr/>
        </p:nvSpPr>
        <p:spPr>
          <a:xfrm>
            <a:off x="812800" y="2120404"/>
            <a:ext cx="4055110" cy="235049"/>
          </a:xfrm>
          <a:prstGeom prst="rect">
            <a:avLst/>
          </a:prstGeom>
          <a:noFill/>
          <a:ln/>
        </p:spPr>
        <p:txBody>
          <a:bodyPr wrap="square" lIns="0" tIns="0" rIns="0" bIns="0" rtlCol="0" anchor="t">
            <a:normAutofit/>
          </a:bodyPr>
          <a:lstStyle/>
          <a:p>
            <a:pPr algn="l" indent="0" marL="0">
              <a:lnSpc>
                <a:spcPts val="1672"/>
              </a:lnSpc>
              <a:buNone/>
            </a:pPr>
            <a:r>
              <a:rPr lang="en-US" sz="1194" b="1" dirty="0">
                <a:solidFill>
                  <a:srgbClr val="6A6570"/>
                </a:solidFill>
                <a:latin typeface="Arial" pitchFamily="34" charset="0"/>
                <a:ea typeface="Arial" pitchFamily="34" charset="-122"/>
                <a:cs typeface="Arial" pitchFamily="34" charset="-120"/>
              </a:rPr>
              <a:t>Scanner: 10 slices × 10 mm</a:t>
            </a:r>
            <a:endParaRPr lang="en-US" sz="1194" dirty="0"/>
          </a:p>
        </p:txBody>
      </p:sp>
      <p:pic>
        <p:nvPicPr>
          <p:cNvPr id="5" name="Image 0" descr="Cut across the scanner slices: the heart as horizontal blocks">    </p:cNvPr>
          <p:cNvPicPr>
            <a:picLocks noChangeAspect="1"/>
          </p:cNvPicPr>
          <p:nvPr/>
        </p:nvPicPr>
        <p:blipFill>
          <a:blip r:embed="rId1"/>
          <a:stretch>
            <a:fillRect/>
          </a:stretch>
        </p:blipFill>
        <p:spPr>
          <a:xfrm>
            <a:off x="947002" y="2393553"/>
            <a:ext cx="2652595" cy="1555849"/>
          </a:xfrm>
          <a:prstGeom prst="rect">
            <a:avLst/>
          </a:prstGeom>
        </p:spPr>
      </p:pic>
      <p:sp>
        <p:nvSpPr>
          <p:cNvPr id="6" name="Text 3"/>
          <p:cNvSpPr/>
          <p:nvPr/>
        </p:nvSpPr>
        <p:spPr>
          <a:xfrm>
            <a:off x="812800" y="4012902"/>
            <a:ext cx="4055110" cy="235049"/>
          </a:xfrm>
          <a:prstGeom prst="rect">
            <a:avLst/>
          </a:prstGeom>
          <a:noFill/>
          <a:ln/>
        </p:spPr>
        <p:txBody>
          <a:bodyPr wrap="square" lIns="0" tIns="0" rIns="0" bIns="0" rtlCol="0" anchor="t">
            <a:normAutofit/>
          </a:bodyPr>
          <a:lstStyle/>
          <a:p>
            <a:pPr algn="l" indent="0" marL="0">
              <a:lnSpc>
                <a:spcPts val="1672"/>
              </a:lnSpc>
              <a:buNone/>
            </a:pPr>
            <a:r>
              <a:rPr lang="en-US" sz="1194" b="1" dirty="0">
                <a:solidFill>
                  <a:srgbClr val="B8322A"/>
                </a:solidFill>
                <a:latin typeface="Arial" pitchFamily="34" charset="0"/>
                <a:ea typeface="Arial" pitchFamily="34" charset="-122"/>
                <a:cs typeface="Arial" pitchFamily="34" charset="-120"/>
              </a:rPr>
              <a:t>Neural field: 61 slices × 1.6 mm</a:t>
            </a:r>
            <a:endParaRPr lang="en-US" sz="1194" dirty="0"/>
          </a:p>
        </p:txBody>
      </p:sp>
      <p:pic>
        <p:nvPicPr>
          <p:cNvPr id="7" name="Image 1" descr="The same cut queried from the neural field: a smooth left ventricle from base to apex">    </p:cNvPr>
          <p:cNvPicPr>
            <a:picLocks noChangeAspect="1"/>
          </p:cNvPicPr>
          <p:nvPr/>
        </p:nvPicPr>
        <p:blipFill>
          <a:blip r:embed="rId2"/>
          <a:stretch>
            <a:fillRect/>
          </a:stretch>
        </p:blipFill>
        <p:spPr>
          <a:xfrm>
            <a:off x="946918" y="4286052"/>
            <a:ext cx="2652765" cy="1555948"/>
          </a:xfrm>
          <a:prstGeom prst="rect">
            <a:avLst/>
          </a:prstGeom>
        </p:spPr>
      </p:pic>
      <p:sp>
        <p:nvSpPr>
          <p:cNvPr id="8" name="Text 4"/>
          <p:cNvSpPr/>
          <p:nvPr/>
        </p:nvSpPr>
        <p:spPr>
          <a:xfrm>
            <a:off x="5105400" y="2120404"/>
            <a:ext cx="646201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Test: every 2nd slice hidden (20 mm gap)</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118100" y="2516584"/>
          <a:ext cx="6261100" cy="1929805"/>
        </p:xfrm>
        <a:graphic>
          <a:graphicData uri="http://schemas.openxmlformats.org/drawingml/2006/table">
            <a:tbl>
              <a:tblPr/>
              <a:tblGrid>
                <a:gridCol w="3881882"/>
                <a:gridCol w="2379218"/>
              </a:tblGrid>
              <a:tr h="385961">
                <a:tc>
                  <a:txBody>
                    <a:bodyPr/>
                    <a:lstStyle/>
                    <a:p>
                      <a:pPr indent="0" marL="0">
                        <a:lnSpc>
                          <a:spcPts val="1960"/>
                        </a:lnSpc>
                        <a:buNone/>
                      </a:pPr>
                      <a:r>
                        <a:rPr lang="en-US" sz="1400" b="1" dirty="0">
                          <a:solidFill>
                            <a:srgbClr val="1C1A1F"/>
                          </a:solidFill>
                          <a:latin typeface="Arial" pitchFamily="34" charset="0"/>
                          <a:ea typeface="Arial" pitchFamily="34" charset="-122"/>
                          <a:cs typeface="Arial" pitchFamily="34" charset="-120"/>
                        </a:rPr>
                        <a:t>dB, heart, patient 051</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B5B2AF"/>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5B2AF"/>
                      </a:solidFill>
                      <a:prstDash val="solid"/>
                      <a:round/>
                      <a:headEnd type="none" w="med" len="med"/>
                      <a:tailEnd type="none" w="med" len="med"/>
                    </a:lnB>
                    <a:solidFill>
                      <a:srgbClr val="E2DFDB"/>
                    </a:solidFill>
                  </a:tcPr>
                </a:tc>
                <a:tc>
                  <a:txBody>
                    <a:bodyPr/>
                    <a:lstStyle/>
                    <a:p>
                      <a:pPr algn="r" indent="0" marL="0">
                        <a:lnSpc>
                          <a:spcPts val="1960"/>
                        </a:lnSpc>
                        <a:buNone/>
                      </a:pPr>
                      <a:r>
                        <a:rPr lang="en-US" sz="1400" b="1" dirty="0">
                          <a:solidFill>
                            <a:srgbClr val="1C1A1F"/>
                          </a:solidFill>
                          <a:latin typeface="Arial" pitchFamily="34" charset="0"/>
                          <a:ea typeface="Arial" pitchFamily="34" charset="-122"/>
                          <a:cs typeface="Arial" pitchFamily="34" charset="-120"/>
                        </a:rPr>
                        <a:t>hidden slices</a:t>
                      </a:r>
                      <a:endParaRPr lang="en-US" sz="1400" dirty="0">
                        <a:latin typeface="Arial" charset="0"/>
                        <a:ea typeface="Arial" charset="0"/>
                        <a:cs typeface="Arial" charset="0"/>
                      </a:endParaRPr>
                    </a:p>
                  </a:txBody>
                  <a:tcPr marL="62230" marR="62230" marT="62230" marB="62230" anchor="t">
                    <a:lnL w="12700" cap="flat" cmpd="sng" algn="ctr">
                      <a:solidFill>
                        <a:srgbClr val="B5B2AF"/>
                      </a:solidFill>
                      <a:prstDash val="solid"/>
                      <a:round/>
                      <a:headEnd type="none" w="med" len="med"/>
                      <a:tailEnd type="none" w="med" len="med"/>
                    </a:lnL>
                    <a:lnR w="12700" cap="flat" cmpd="sng" algn="ctr">
                      <a:solidFill>
                        <a:srgbClr val="B5B2AF"/>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5B2AF"/>
                      </a:solidFill>
                      <a:prstDash val="solid"/>
                      <a:round/>
                      <a:headEnd type="none" w="med" len="med"/>
                      <a:tailEnd type="none" w="med" len="med"/>
                    </a:lnB>
                    <a:solidFill>
                      <a:srgbClr val="E2DFDB"/>
                    </a:solidFill>
                  </a:tcPr>
                </a:tc>
              </a:tr>
              <a:tr h="385961">
                <a:tc>
                  <a:txBody>
                    <a:bodyPr/>
                    <a:lstStyle/>
                    <a:p>
                      <a:pPr indent="0" marL="0">
                        <a:lnSpc>
                          <a:spcPts val="1960"/>
                        </a:lnSpc>
                        <a:buNone/>
                      </a:pPr>
                      <a:r>
                        <a:rPr lang="en-US" sz="1400" dirty="0">
                          <a:solidFill>
                            <a:srgbClr val="2F6690"/>
                          </a:solidFill>
                          <a:latin typeface="Arial" pitchFamily="34" charset="0"/>
                          <a:ea typeface="Arial" pitchFamily="34" charset="-122"/>
                          <a:cs typeface="Arial" pitchFamily="34" charset="-120"/>
                        </a:rPr>
                        <a:t>Interpolation</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5B2AF"/>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20.01</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5B2AF"/>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1A1F"/>
                          </a:solidFill>
                          <a:latin typeface="Arial" pitchFamily="34" charset="0"/>
                          <a:ea typeface="Arial" pitchFamily="34" charset="-122"/>
                          <a:cs typeface="Arial" pitchFamily="34" charset="-120"/>
                        </a:rPr>
                        <a:t>SIREN, raw z</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19.95</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B8322A"/>
                          </a:solidFill>
                          <a:latin typeface="Arial" pitchFamily="34" charset="0"/>
                          <a:ea typeface="Arial" pitchFamily="34" charset="-122"/>
                          <a:cs typeface="Arial" pitchFamily="34" charset="-120"/>
                        </a:rPr>
                        <a:t>SIREN, z × 0.25</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BAB5AE"/>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AB5AE"/>
                      </a:solidFill>
                      <a:prstDash val="solid"/>
                      <a:round/>
                      <a:headEnd type="none" w="med" len="med"/>
                      <a:tailEnd type="none" w="med" len="med"/>
                    </a:lnB>
                    <a:solidFill>
                      <a:srgbClr val="E9E3DA"/>
                    </a:solidFill>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20.09</a:t>
                      </a:r>
                      <a:endParaRPr lang="en-US" sz="1400" dirty="0">
                        <a:latin typeface="Arial" charset="0"/>
                        <a:ea typeface="Arial" charset="0"/>
                        <a:cs typeface="Arial" charset="0"/>
                      </a:endParaRPr>
                    </a:p>
                  </a:txBody>
                  <a:tcPr marL="62230" marR="62230" marT="62230" marB="62230" anchor="t">
                    <a:lnL w="12700" cap="flat" cmpd="sng" algn="ctr">
                      <a:solidFill>
                        <a:srgbClr val="BAB5AE"/>
                      </a:solidFill>
                      <a:prstDash val="solid"/>
                      <a:round/>
                      <a:headEnd type="none" w="med" len="med"/>
                      <a:tailEnd type="none" w="med" len="med"/>
                    </a:lnL>
                    <a:lnR w="12700" cap="flat" cmpd="sng" algn="ctr">
                      <a:solidFill>
                        <a:srgbClr val="BAB5AE"/>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AB5AE"/>
                      </a:solidFill>
                      <a:prstDash val="solid"/>
                      <a:round/>
                      <a:headEnd type="none" w="med" len="med"/>
                      <a:tailEnd type="none" w="med" len="med"/>
                    </a:lnB>
                    <a:solidFill>
                      <a:srgbClr val="E9E3DA"/>
                    </a:solidFill>
                  </a:tcPr>
                </a:tc>
              </a:tr>
              <a:tr h="385961">
                <a:tc>
                  <a:txBody>
                    <a:bodyPr/>
                    <a:lstStyle/>
                    <a:p>
                      <a:pPr indent="0" marL="0">
                        <a:lnSpc>
                          <a:spcPts val="1960"/>
                        </a:lnSpc>
                        <a:buNone/>
                      </a:pPr>
                      <a:r>
                        <a:rPr lang="en-US" sz="1400" dirty="0">
                          <a:solidFill>
                            <a:srgbClr val="6A6570"/>
                          </a:solidFill>
                          <a:latin typeface="Arial" pitchFamily="34" charset="0"/>
                          <a:ea typeface="Arial" pitchFamily="34" charset="-122"/>
                          <a:cs typeface="Arial" pitchFamily="34" charset="-120"/>
                        </a:rPr>
                        <a:t>ReLU</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AB5AE"/>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18.83</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AB5AE"/>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r>
            </a:tbl>
          </a:graphicData>
        </a:graphic>
      </p:graphicFrame>
      <p:sp>
        <p:nvSpPr>
          <p:cNvPr id="10" name="Text 5"/>
          <p:cNvSpPr/>
          <p:nvPr/>
        </p:nvSpPr>
        <p:spPr>
          <a:xfrm>
            <a:off x="5105400" y="4586089"/>
            <a:ext cx="6462014"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Patient 015 confirms the picture: 20.4 vs 20.7 dB in the heart, 20.8 vs 20.1 on the crop.</a:t>
            </a:r>
            <a:endParaRPr lang="en-US" sz="1300" dirty="0"/>
          </a:p>
        </p:txBody>
      </p:sp>
      <p:sp>
        <p:nvSpPr>
          <p:cNvPr id="11" name="Text 6"/>
          <p:cNvSpPr/>
          <p:nvPr/>
        </p:nvSpPr>
        <p:spPr>
          <a:xfrm>
            <a:off x="5105400" y="5204420"/>
            <a:ext cx="6462014"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A 20 mm gap is a limit of the data: the heart changes shape over that distance. SIREN is level with interpolation and adds no artefacts.</a:t>
            </a:r>
            <a:endParaRPr lang="en-US" sz="1300" dirty="0"/>
          </a:p>
        </p:txBody>
      </p:sp>
      <p:sp>
        <p:nvSpPr>
          <p:cNvPr id="12"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13"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RESULT 5 · DEMO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A beating 3D heart, queried from one network</a:t>
            </a:r>
            <a:endParaRPr lang="en-US" sz="3200" dirty="0"/>
          </a:p>
        </p:txBody>
      </p:sp>
      <p:pic>
        <p:nvPicPr>
          <p:cNvPr id="4" name="Image 0" descr="Animated 3D heart from the neural field: left, heart muscle of the left ventricle and the right ventricle from outside; right, cut open, the cut face shows the network's own image of the wall and the red blood inside beats">    </p:cNvPr>
          <p:cNvPicPr>
            <a:picLocks noChangeAspect="1"/>
          </p:cNvPicPr>
          <p:nvPr/>
        </p:nvPicPr>
        <p:blipFill>
          <a:blip r:embed="rId1"/>
          <a:srcRect l="0" r="0" t="0" b="0"/>
          <a:stretch/>
        </p:blipFill>
        <p:spPr>
          <a:xfrm>
            <a:off x="812800" y="1727101"/>
            <a:ext cx="7112000" cy="3556000"/>
          </a:xfrm>
          <a:prstGeom prst="rect">
            <a:avLst/>
          </a:prstGeom>
        </p:spPr>
      </p:pic>
      <p:sp>
        <p:nvSpPr>
          <p:cNvPr id="5" name="Text 2"/>
          <p:cNvSpPr/>
          <p:nvPr/>
        </p:nvSpPr>
        <p:spPr>
          <a:xfrm>
            <a:off x="8178800" y="2183507"/>
            <a:ext cx="32964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322A"/>
                </a:solidFill>
                <a:latin typeface="Courier New" pitchFamily="49" charset="0"/>
                <a:ea typeface="Courier New" pitchFamily="49" charset="-122"/>
                <a:cs typeface="Courier New" pitchFamily="49" charset="-120"/>
              </a:rPr>
              <a:t>61 × 1.6 mm</a:t>
            </a:r>
            <a:endParaRPr lang="en-US" sz="2200" dirty="0"/>
          </a:p>
        </p:txBody>
      </p:sp>
      <p:sp>
        <p:nvSpPr>
          <p:cNvPr id="6" name="Text 3"/>
          <p:cNvSpPr/>
          <p:nvPr/>
        </p:nvSpPr>
        <p:spPr>
          <a:xfrm>
            <a:off x="8178800" y="2600027"/>
            <a:ext cx="329641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4752"/>
                </a:solidFill>
                <a:latin typeface="Arial" pitchFamily="34" charset="0"/>
                <a:ea typeface="Arial" pitchFamily="34" charset="-122"/>
                <a:cs typeface="Arial" pitchFamily="34" charset="-120"/>
              </a:rPr>
              <a:t>slices asked from the network (the scanner has 10 × 10 mm)</a:t>
            </a:r>
            <a:endParaRPr lang="en-US" sz="1300" dirty="0"/>
          </a:p>
        </p:txBody>
      </p:sp>
      <p:sp>
        <p:nvSpPr>
          <p:cNvPr id="7" name="Text 4"/>
          <p:cNvSpPr/>
          <p:nvPr/>
        </p:nvSpPr>
        <p:spPr>
          <a:xfrm>
            <a:off x="8178800" y="3185418"/>
            <a:ext cx="32964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322A"/>
                </a:solidFill>
                <a:latin typeface="Courier New" pitchFamily="49" charset="0"/>
                <a:ea typeface="Courier New" pitchFamily="49" charset="-122"/>
                <a:cs typeface="Courier New" pitchFamily="49" charset="-120"/>
              </a:rPr>
              <a:t>30 moments</a:t>
            </a:r>
            <a:endParaRPr lang="en-US" sz="2200" dirty="0"/>
          </a:p>
        </p:txBody>
      </p:sp>
      <p:sp>
        <p:nvSpPr>
          <p:cNvPr id="8" name="Text 5"/>
          <p:cNvSpPr/>
          <p:nvPr/>
        </p:nvSpPr>
        <p:spPr>
          <a:xfrm>
            <a:off x="8178800" y="3601938"/>
            <a:ext cx="329641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4752"/>
                </a:solidFill>
                <a:latin typeface="Arial" pitchFamily="34" charset="0"/>
                <a:ea typeface="Arial" pitchFamily="34" charset="-122"/>
                <a:cs typeface="Arial" pitchFamily="34" charset="-120"/>
              </a:rPr>
              <a:t>of one heartbeat, any number possible</a:t>
            </a:r>
            <a:endParaRPr lang="en-US" sz="1300" dirty="0"/>
          </a:p>
        </p:txBody>
      </p:sp>
      <p:sp>
        <p:nvSpPr>
          <p:cNvPr id="9" name="Text 6"/>
          <p:cNvSpPr/>
          <p:nvPr/>
        </p:nvSpPr>
        <p:spPr>
          <a:xfrm>
            <a:off x="8178800" y="3964484"/>
            <a:ext cx="32964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322A"/>
                </a:solidFill>
                <a:latin typeface="Courier New" pitchFamily="49" charset="0"/>
                <a:ea typeface="Courier New" pitchFamily="49" charset="-122"/>
                <a:cs typeface="Courier New" pitchFamily="49" charset="-120"/>
              </a:rPr>
              <a:t>0.8 MB</a:t>
            </a:r>
            <a:endParaRPr lang="en-US" sz="2200" dirty="0"/>
          </a:p>
        </p:txBody>
      </p:sp>
      <p:sp>
        <p:nvSpPr>
          <p:cNvPr id="10" name="Text 7"/>
          <p:cNvSpPr/>
          <p:nvPr/>
        </p:nvSpPr>
        <p:spPr>
          <a:xfrm>
            <a:off x="8178800" y="4381004"/>
            <a:ext cx="329641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4752"/>
                </a:solidFill>
                <a:latin typeface="Arial" pitchFamily="34" charset="0"/>
                <a:ea typeface="Arial" pitchFamily="34" charset="-122"/>
                <a:cs typeface="Arial" pitchFamily="34" charset="-120"/>
              </a:rPr>
              <a:t>one file of weights holds the whole beating heart</a:t>
            </a:r>
            <a:endParaRPr lang="en-US" sz="1300" dirty="0"/>
          </a:p>
        </p:txBody>
      </p:sp>
      <p:sp>
        <p:nvSpPr>
          <p:cNvPr id="11" name="Text 8"/>
          <p:cNvSpPr/>
          <p:nvPr/>
        </p:nvSpPr>
        <p:spPr>
          <a:xfrm>
            <a:off x="812800" y="546090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B4752"/>
                </a:solidFill>
                <a:latin typeface="Arial" pitchFamily="34" charset="0"/>
                <a:ea typeface="Arial" pitchFamily="34" charset="-122"/>
                <a:cs typeface="Arial" pitchFamily="34" charset="-120"/>
              </a:rPr>
              <a:t>Live demo:</a:t>
            </a:r>
            <a:r>
              <a:rPr lang="en-US" sz="1300" dirty="0">
                <a:solidFill>
                  <a:srgbClr val="4B4752"/>
                </a:solidFill>
                <a:latin typeface="Arial" pitchFamily="34" charset="0"/>
                <a:ea typeface="Arial" pitchFamily="34" charset="-122"/>
                <a:cs typeface="Arial" pitchFamily="34" charset="-120"/>
              </a:rPr>
              <a:t> results/patient051/final/heart4d/heart_4d.html — rotate, cut open, pause at any moment.</a:t>
            </a:r>
            <a:endParaRPr lang="en-US" sz="13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 · marching cubes on the field, Taubin smoothing</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RESULT 6 · CLINICAL CHECK</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The 4D heart pumps like the real one</a:t>
            </a:r>
            <a:endParaRPr lang="en-US" sz="3200" dirty="0"/>
          </a:p>
        </p:txBody>
      </p:sp>
      <p:sp>
        <p:nvSpPr>
          <p:cNvPr id="4" name="Text 2"/>
          <p:cNvSpPr/>
          <p:nvPr/>
        </p:nvSpPr>
        <p:spPr>
          <a:xfrm>
            <a:off x="762000" y="4330601"/>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50</a:t>
            </a:r>
            <a:endParaRPr lang="en-US" sz="1200" dirty="0"/>
          </a:p>
        </p:txBody>
      </p:sp>
      <p:sp>
        <p:nvSpPr>
          <p:cNvPr id="5" name="Text 3"/>
          <p:cNvSpPr/>
          <p:nvPr/>
        </p:nvSpPr>
        <p:spPr>
          <a:xfrm>
            <a:off x="762000" y="3625751"/>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100</a:t>
            </a:r>
            <a:endParaRPr lang="en-US" sz="1200" dirty="0"/>
          </a:p>
        </p:txBody>
      </p:sp>
      <p:sp>
        <p:nvSpPr>
          <p:cNvPr id="6" name="Text 4"/>
          <p:cNvSpPr/>
          <p:nvPr/>
        </p:nvSpPr>
        <p:spPr>
          <a:xfrm>
            <a:off x="762000" y="2927251"/>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150</a:t>
            </a:r>
            <a:endParaRPr lang="en-US" sz="1200" dirty="0"/>
          </a:p>
        </p:txBody>
      </p:sp>
      <p:sp>
        <p:nvSpPr>
          <p:cNvPr id="7" name="Text 5"/>
          <p:cNvSpPr/>
          <p:nvPr/>
        </p:nvSpPr>
        <p:spPr>
          <a:xfrm>
            <a:off x="762000" y="2222401"/>
            <a:ext cx="406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200</a:t>
            </a:r>
            <a:endParaRPr lang="en-US" sz="1200" dirty="0"/>
          </a:p>
        </p:txBody>
      </p:sp>
      <p:pic>
        <p:nvPicPr>
          <p:cNvPr id="8" name="Image 0" descr="Left and right ventricle volume over one heartbeat from the neural field, with expert-label volumes at end-diastole and end-systole">    </p:cNvPr>
          <p:cNvPicPr>
            <a:picLocks noChangeAspect="1"/>
          </p:cNvPicPr>
          <p:nvPr/>
        </p:nvPicPr>
        <p:blipFill>
          <a:blip r:embed="rId1"/>
          <a:srcRect l="0" r="0" t="0" b="0"/>
          <a:stretch/>
        </p:blipFill>
        <p:spPr>
          <a:xfrm>
            <a:off x="1219200" y="1777901"/>
            <a:ext cx="6223000" cy="2921000"/>
          </a:xfrm>
          <a:prstGeom prst="rect">
            <a:avLst/>
          </a:prstGeom>
        </p:spPr>
      </p:pic>
      <p:sp>
        <p:nvSpPr>
          <p:cNvPr id="9" name="Text 6"/>
          <p:cNvSpPr/>
          <p:nvPr/>
        </p:nvSpPr>
        <p:spPr>
          <a:xfrm>
            <a:off x="1219200" y="4762401"/>
            <a:ext cx="652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Blood volume (ml) over one heartbeat, 30 moments, from the neural field. ◆ = expert labels.</a:t>
            </a:r>
            <a:endParaRPr lang="en-US" sz="1200" dirty="0"/>
          </a:p>
        </p:txBody>
      </p:sp>
      <p:sp>
        <p:nvSpPr>
          <p:cNvPr id="10" name="Text 7"/>
          <p:cNvSpPr/>
          <p:nvPr/>
        </p:nvSpPr>
        <p:spPr>
          <a:xfrm>
            <a:off x="5829300" y="2489101"/>
            <a:ext cx="1511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22A"/>
                </a:solidFill>
                <a:latin typeface="Arial" pitchFamily="34" charset="0"/>
                <a:ea typeface="Arial" pitchFamily="34" charset="-122"/>
                <a:cs typeface="Arial" pitchFamily="34" charset="-120"/>
              </a:rPr>
              <a:t>left ventricle</a:t>
            </a:r>
            <a:endParaRPr lang="en-US" sz="1300" dirty="0"/>
          </a:p>
        </p:txBody>
      </p:sp>
      <p:sp>
        <p:nvSpPr>
          <p:cNvPr id="11" name="Text 8"/>
          <p:cNvSpPr/>
          <p:nvPr/>
        </p:nvSpPr>
        <p:spPr>
          <a:xfrm>
            <a:off x="5829300" y="3873401"/>
            <a:ext cx="15113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690"/>
                </a:solidFill>
                <a:latin typeface="Arial" pitchFamily="34" charset="0"/>
                <a:ea typeface="Arial" pitchFamily="34" charset="-122"/>
                <a:cs typeface="Arial" pitchFamily="34" charset="-120"/>
              </a:rPr>
              <a:t>right ventricle</a:t>
            </a:r>
            <a:endParaRPr lang="en-US" sz="1300" dirty="0"/>
          </a:p>
        </p:txBody>
      </p:sp>
      <p:sp>
        <p:nvSpPr>
          <p:cNvPr id="12" name="Text 9"/>
          <p:cNvSpPr/>
          <p:nvPr/>
        </p:nvSpPr>
        <p:spPr>
          <a:xfrm>
            <a:off x="7747000" y="1777901"/>
            <a:ext cx="374116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Ejection fraction</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59700" y="2174081"/>
          <a:ext cx="3619500" cy="1543844"/>
        </p:xfrm>
        <a:graphic>
          <a:graphicData uri="http://schemas.openxmlformats.org/drawingml/2006/table">
            <a:tbl>
              <a:tblPr/>
              <a:tblGrid>
                <a:gridCol w="2099310"/>
                <a:gridCol w="760095"/>
                <a:gridCol w="760095"/>
              </a:tblGrid>
              <a:tr h="385961">
                <a:tc>
                  <a:txBody>
                    <a:bodyPr/>
                    <a:lstStyle/>
                    <a:p>
                      <a:pPr indent="0" marL="0">
                        <a:lnSpc>
                          <a:spcPts val="1960"/>
                        </a:lnSpc>
                        <a:buNone/>
                      </a:pPr>
                      <a:r>
                        <a:rPr lang="en-US" sz="1400" b="1" dirty="0">
                          <a:solidFill>
                            <a:srgbClr val="1C1A1F"/>
                          </a:solidFill>
                          <a:latin typeface="Arial" pitchFamily="34" charset="0"/>
                          <a:ea typeface="Arial" pitchFamily="34" charset="-122"/>
                          <a:cs typeface="Arial" pitchFamily="34" charset="-120"/>
                        </a:rPr>
                        <a:t>source</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B5B2AF"/>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5B2AF"/>
                      </a:solidFill>
                      <a:prstDash val="solid"/>
                      <a:round/>
                      <a:headEnd type="none" w="med" len="med"/>
                      <a:tailEnd type="none" w="med" len="med"/>
                    </a:lnB>
                    <a:solidFill>
                      <a:srgbClr val="E2DFDB"/>
                    </a:solidFill>
                  </a:tcPr>
                </a:tc>
                <a:tc>
                  <a:txBody>
                    <a:bodyPr/>
                    <a:lstStyle/>
                    <a:p>
                      <a:pPr algn="r" indent="0" marL="0">
                        <a:lnSpc>
                          <a:spcPts val="1960"/>
                        </a:lnSpc>
                        <a:buNone/>
                      </a:pPr>
                      <a:r>
                        <a:rPr lang="en-US" sz="1400" b="1" dirty="0">
                          <a:solidFill>
                            <a:srgbClr val="1C1A1F"/>
                          </a:solidFill>
                          <a:latin typeface="Arial" pitchFamily="34" charset="0"/>
                          <a:ea typeface="Arial" pitchFamily="34" charset="-122"/>
                          <a:cs typeface="Arial" pitchFamily="34" charset="-120"/>
                        </a:rPr>
                        <a:t>LV</a:t>
                      </a:r>
                      <a:endParaRPr lang="en-US" sz="1400" dirty="0">
                        <a:latin typeface="Arial" charset="0"/>
                        <a:ea typeface="Arial" charset="0"/>
                        <a:cs typeface="Arial" charset="0"/>
                      </a:endParaRPr>
                    </a:p>
                  </a:txBody>
                  <a:tcPr marL="62230" marR="62230" marT="62230" marB="62230" anchor="t">
                    <a:lnL w="12700" cap="flat" cmpd="sng" algn="ctr">
                      <a:solidFill>
                        <a:srgbClr val="B5B2AF"/>
                      </a:solidFill>
                      <a:prstDash val="solid"/>
                      <a:round/>
                      <a:headEnd type="none" w="med" len="med"/>
                      <a:tailEnd type="none" w="med" len="med"/>
                    </a:lnL>
                    <a:lnR w="12700" cap="flat" cmpd="sng" algn="ctr">
                      <a:solidFill>
                        <a:srgbClr val="B5B2AF"/>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5B2AF"/>
                      </a:solidFill>
                      <a:prstDash val="solid"/>
                      <a:round/>
                      <a:headEnd type="none" w="med" len="med"/>
                      <a:tailEnd type="none" w="med" len="med"/>
                    </a:lnB>
                    <a:solidFill>
                      <a:srgbClr val="E2DFDB"/>
                    </a:solidFill>
                  </a:tcPr>
                </a:tc>
                <a:tc>
                  <a:txBody>
                    <a:bodyPr/>
                    <a:lstStyle/>
                    <a:p>
                      <a:pPr algn="r" indent="0" marL="0">
                        <a:lnSpc>
                          <a:spcPts val="1960"/>
                        </a:lnSpc>
                        <a:buNone/>
                      </a:pPr>
                      <a:r>
                        <a:rPr lang="en-US" sz="1400" b="1" dirty="0">
                          <a:solidFill>
                            <a:srgbClr val="1C1A1F"/>
                          </a:solidFill>
                          <a:latin typeface="Arial" pitchFamily="34" charset="0"/>
                          <a:ea typeface="Arial" pitchFamily="34" charset="-122"/>
                          <a:cs typeface="Arial" pitchFamily="34" charset="-120"/>
                        </a:rPr>
                        <a:t>RV</a:t>
                      </a:r>
                      <a:endParaRPr lang="en-US" sz="1400" dirty="0">
                        <a:latin typeface="Arial" charset="0"/>
                        <a:ea typeface="Arial" charset="0"/>
                        <a:cs typeface="Arial" charset="0"/>
                      </a:endParaRPr>
                    </a:p>
                  </a:txBody>
                  <a:tcPr marL="62230" marR="62230" marT="62230" marB="62230" anchor="t">
                    <a:lnL w="12700" cap="flat" cmpd="sng" algn="ctr">
                      <a:solidFill>
                        <a:srgbClr val="B5B2AF"/>
                      </a:solidFill>
                      <a:prstDash val="solid"/>
                      <a:round/>
                      <a:headEnd type="none" w="med" len="med"/>
                      <a:tailEnd type="none" w="med" len="med"/>
                    </a:lnL>
                    <a:lnR w="12700" cap="flat" cmpd="sng" algn="ctr">
                      <a:solidFill>
                        <a:srgbClr val="B5B2AF"/>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5B2AF"/>
                      </a:solidFill>
                      <a:prstDash val="solid"/>
                      <a:round/>
                      <a:headEnd type="none" w="med" len="med"/>
                      <a:tailEnd type="none" w="med" len="med"/>
                    </a:lnB>
                    <a:solidFill>
                      <a:srgbClr val="E2DFDB"/>
                    </a:solidFill>
                  </a:tcPr>
                </a:tc>
              </a:tr>
              <a:tr h="385961">
                <a:tc>
                  <a:txBody>
                    <a:bodyPr/>
                    <a:lstStyle/>
                    <a:p>
                      <a:pPr indent="0" marL="0">
                        <a:lnSpc>
                          <a:spcPts val="1960"/>
                        </a:lnSpc>
                        <a:buNone/>
                      </a:pPr>
                      <a:r>
                        <a:rPr lang="en-US" sz="1400" dirty="0">
                          <a:solidFill>
                            <a:srgbClr val="1C1A1F"/>
                          </a:solidFill>
                          <a:latin typeface="Arial" pitchFamily="34" charset="0"/>
                          <a:ea typeface="Arial" pitchFamily="34" charset="-122"/>
                          <a:cs typeface="Arial" pitchFamily="34" charset="-120"/>
                        </a:rPr>
                        <a:t>Expert labels</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5B2AF"/>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44%</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5B2AF"/>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53%</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B5B2AF"/>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C1A1F"/>
                          </a:solidFill>
                          <a:latin typeface="Arial" pitchFamily="34" charset="0"/>
                          <a:ea typeface="Arial" pitchFamily="34" charset="-122"/>
                          <a:cs typeface="Arial" pitchFamily="34" charset="-120"/>
                        </a:rPr>
                        <a:t>Our method on scanner</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47%</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53%</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C3C0BC"/>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C3C0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B8322A"/>
                          </a:solidFill>
                          <a:latin typeface="Arial" pitchFamily="34" charset="0"/>
                          <a:ea typeface="Arial" pitchFamily="34" charset="-122"/>
                          <a:cs typeface="Arial" pitchFamily="34" charset="-120"/>
                        </a:rPr>
                        <a:t>Neural field</a:t>
                      </a:r>
                      <a:endParaRPr lang="en-US" sz="1400" dirty="0">
                        <a:latin typeface="Arial" charset="0"/>
                        <a:ea typeface="Arial" charset="0"/>
                        <a:cs typeface="Arial" charset="0"/>
                      </a:endParaRPr>
                    </a:p>
                  </a:txBody>
                  <a:tcPr marL="62230" marR="62230" marT="62230" marB="62230" anchor="t">
                    <a:lnL w="12700" cap="flat" cmpd="sng" algn="ctr">
                      <a:solidFill>
                        <a:srgbClr val="C3C0BC"/>
                      </a:solidFill>
                      <a:prstDash val="solid"/>
                      <a:round/>
                      <a:headEnd type="none" w="med" len="med"/>
                      <a:tailEnd type="none" w="med" len="med"/>
                    </a:lnL>
                    <a:lnR w="12700" cap="flat" cmpd="sng" algn="ctr">
                      <a:solidFill>
                        <a:srgbClr val="BAB5AE"/>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AB5AE"/>
                      </a:solidFill>
                      <a:prstDash val="solid"/>
                      <a:round/>
                      <a:headEnd type="none" w="med" len="med"/>
                      <a:tailEnd type="none" w="med" len="med"/>
                    </a:lnB>
                    <a:solidFill>
                      <a:srgbClr val="E9E3DA"/>
                    </a:solidFill>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49%</a:t>
                      </a:r>
                      <a:endParaRPr lang="en-US" sz="1400" dirty="0">
                        <a:latin typeface="Arial" charset="0"/>
                        <a:ea typeface="Arial" charset="0"/>
                        <a:cs typeface="Arial" charset="0"/>
                      </a:endParaRPr>
                    </a:p>
                  </a:txBody>
                  <a:tcPr marL="62230" marR="62230" marT="62230" marB="62230" anchor="t">
                    <a:lnL w="12700" cap="flat" cmpd="sng" algn="ctr">
                      <a:solidFill>
                        <a:srgbClr val="BAB5AE"/>
                      </a:solidFill>
                      <a:prstDash val="solid"/>
                      <a:round/>
                      <a:headEnd type="none" w="med" len="med"/>
                      <a:tailEnd type="none" w="med" len="med"/>
                    </a:lnL>
                    <a:lnR w="12700" cap="flat" cmpd="sng" algn="ctr">
                      <a:solidFill>
                        <a:srgbClr val="BAB5AE"/>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AB5AE"/>
                      </a:solidFill>
                      <a:prstDash val="solid"/>
                      <a:round/>
                      <a:headEnd type="none" w="med" len="med"/>
                      <a:tailEnd type="none" w="med" len="med"/>
                    </a:lnB>
                    <a:solidFill>
                      <a:srgbClr val="E9E3DA"/>
                    </a:solidFill>
                  </a:tcPr>
                </a:tc>
                <a:tc>
                  <a:txBody>
                    <a:bodyPr/>
                    <a:lstStyle/>
                    <a:p>
                      <a:pPr algn="r" indent="0" marL="0">
                        <a:lnSpc>
                          <a:spcPts val="1960"/>
                        </a:lnSpc>
                        <a:buNone/>
                      </a:pPr>
                      <a:r>
                        <a:rPr lang="en-US" sz="1400" dirty="0">
                          <a:solidFill>
                            <a:srgbClr val="1C1A1F"/>
                          </a:solidFill>
                          <a:latin typeface="Arial" pitchFamily="34" charset="0"/>
                          <a:ea typeface="Arial" pitchFamily="34" charset="-122"/>
                          <a:cs typeface="Arial" pitchFamily="34" charset="-120"/>
                        </a:rPr>
                        <a:t>51%</a:t>
                      </a:r>
                      <a:endParaRPr lang="en-US" sz="1400" dirty="0">
                        <a:latin typeface="Arial" charset="0"/>
                        <a:ea typeface="Arial" charset="0"/>
                        <a:cs typeface="Arial" charset="0"/>
                      </a:endParaRPr>
                    </a:p>
                  </a:txBody>
                  <a:tcPr marL="62230" marR="62230" marT="62230" marB="62230" anchor="t">
                    <a:lnL w="12700" cap="flat" cmpd="sng" algn="ctr">
                      <a:solidFill>
                        <a:srgbClr val="BAB5AE"/>
                      </a:solidFill>
                      <a:prstDash val="solid"/>
                      <a:round/>
                      <a:headEnd type="none" w="med" len="med"/>
                      <a:tailEnd type="none" w="med" len="med"/>
                    </a:lnL>
                    <a:lnR w="12700" cap="flat" cmpd="sng" algn="ctr">
                      <a:solidFill>
                        <a:srgbClr val="BAB5AE"/>
                      </a:solidFill>
                      <a:prstDash val="solid"/>
                      <a:round/>
                      <a:headEnd type="none" w="med" len="med"/>
                      <a:tailEnd type="none" w="med" len="med"/>
                    </a:lnR>
                    <a:lnT w="12700" cap="flat" cmpd="sng" algn="ctr">
                      <a:solidFill>
                        <a:srgbClr val="C3C0BC"/>
                      </a:solidFill>
                      <a:prstDash val="solid"/>
                      <a:round/>
                      <a:headEnd type="none" w="med" len="med"/>
                      <a:tailEnd type="none" w="med" len="med"/>
                    </a:lnT>
                    <a:lnB w="12700" cap="flat" cmpd="sng" algn="ctr">
                      <a:solidFill>
                        <a:srgbClr val="BAB5AE"/>
                      </a:solidFill>
                      <a:prstDash val="solid"/>
                      <a:round/>
                      <a:headEnd type="none" w="med" len="med"/>
                      <a:tailEnd type="none" w="med" len="med"/>
                    </a:lnB>
                    <a:solidFill>
                      <a:srgbClr val="E9E3DA"/>
                    </a:solidFill>
                  </a:tcPr>
                </a:tc>
              </a:tr>
            </a:tbl>
          </a:graphicData>
        </a:graphic>
      </p:graphicFrame>
      <p:sp>
        <p:nvSpPr>
          <p:cNvPr id="14" name="Text 10"/>
          <p:cNvSpPr/>
          <p:nvPr/>
        </p:nvSpPr>
        <p:spPr>
          <a:xfrm>
            <a:off x="7747000" y="3857625"/>
            <a:ext cx="3741166" cy="98266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B4752"/>
                </a:solidFill>
                <a:latin typeface="Arial" pitchFamily="34" charset="0"/>
                <a:ea typeface="Arial" pitchFamily="34" charset="-122"/>
                <a:cs typeface="Arial" pitchFamily="34" charset="-120"/>
              </a:rPr>
              <a:t>Our blood threshold leaves the papillary muscles out, so volumes are lower than the experts’ (LV 179 vs 212 ml). The ejection fraction is a ratio and stays close.</a:t>
            </a:r>
            <a:endParaRPr lang="en-US" sz="1300" dirty="0"/>
          </a:p>
        </p:txBody>
      </p:sp>
      <p:sp>
        <p:nvSpPr>
          <p:cNvPr id="15"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 · EF = (largest − smallest volume) / largest</a:t>
            </a:r>
            <a:endParaRPr lang="en-US" sz="1200" dirty="0"/>
          </a:p>
        </p:txBody>
      </p:sp>
      <p:sp>
        <p:nvSpPr>
          <p:cNvPr id="16"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E5D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322A"/>
                </a:solidFill>
                <a:latin typeface="Arial" pitchFamily="34" charset="0"/>
                <a:ea typeface="Arial" pitchFamily="34" charset="-122"/>
                <a:cs typeface="Arial" pitchFamily="34" charset="-120"/>
              </a:rPr>
              <a:t>CONCLUSIONS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1A1F"/>
                </a:solidFill>
                <a:latin typeface="Georgia" pitchFamily="18" charset="0"/>
                <a:ea typeface="Georgia" pitchFamily="18" charset="-122"/>
                <a:cs typeface="Georgia" pitchFamily="18" charset="-120"/>
              </a:rPr>
              <a:t>What we showed, and what we did not</a:t>
            </a:r>
            <a:endParaRPr lang="en-US" sz="3200" dirty="0"/>
          </a:p>
        </p:txBody>
      </p:sp>
      <p:pic>
        <p:nvPicPr>
          <p:cNvPr id="4" name="Image 0" descr="CheckCircle">    </p:cNvPr>
          <p:cNvPicPr>
            <a:picLocks noChangeAspect="1"/>
          </p:cNvPicPr>
          <p:nvPr/>
        </p:nvPicPr>
        <p:blipFill>
          <a:blip r:embed="rId1"/>
          <a:srcRect l="0" r="0" t="-297" b="-297"/>
          <a:stretch/>
        </p:blipFill>
        <p:spPr>
          <a:xfrm>
            <a:off x="812800" y="1916311"/>
            <a:ext cx="233561" cy="254000"/>
          </a:xfrm>
          <a:prstGeom prst="rect">
            <a:avLst/>
          </a:prstGeom>
        </p:spPr>
      </p:pic>
      <p:sp>
        <p:nvSpPr>
          <p:cNvPr id="5" name="Text 2"/>
          <p:cNvSpPr/>
          <p:nvPr/>
        </p:nvSpPr>
        <p:spPr>
          <a:xfrm>
            <a:off x="1160661" y="1803301"/>
            <a:ext cx="568032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4752"/>
                </a:solidFill>
                <a:latin typeface="Arial" pitchFamily="34" charset="0"/>
                <a:ea typeface="Arial" pitchFamily="34" charset="-122"/>
                <a:cs typeface="Arial" pitchFamily="34" charset="-120"/>
              </a:rPr>
              <a:t>Sines matter: SIREN is 6.6 dB better than a ReLU network of the same size.</a:t>
            </a:r>
            <a:endParaRPr lang="en-US" sz="1400" dirty="0"/>
          </a:p>
        </p:txBody>
      </p:sp>
      <p:pic>
        <p:nvPicPr>
          <p:cNvPr id="6" name="Image 1" descr="CheckCircle">    </p:cNvPr>
          <p:cNvPicPr>
            <a:picLocks noChangeAspect="1"/>
          </p:cNvPicPr>
          <p:nvPr/>
        </p:nvPicPr>
        <p:blipFill>
          <a:blip r:embed="rId2"/>
          <a:srcRect l="0" r="0" t="-360" b="-360"/>
          <a:stretch/>
        </p:blipFill>
        <p:spPr>
          <a:xfrm>
            <a:off x="812800" y="2497931"/>
            <a:ext cx="220663" cy="254000"/>
          </a:xfrm>
          <a:prstGeom prst="rect">
            <a:avLst/>
          </a:prstGeom>
        </p:spPr>
      </p:pic>
      <p:sp>
        <p:nvSpPr>
          <p:cNvPr id="7" name="Text 3"/>
          <p:cNvSpPr/>
          <p:nvPr/>
        </p:nvSpPr>
        <p:spPr>
          <a:xfrm>
            <a:off x="1147763" y="2384921"/>
            <a:ext cx="569360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4752"/>
                </a:solidFill>
                <a:latin typeface="Arial" pitchFamily="34" charset="0"/>
                <a:ea typeface="Arial" pitchFamily="34" charset="-122"/>
                <a:cs typeface="Arial" pitchFamily="34" charset="-120"/>
              </a:rPr>
              <a:t>How time and slice position enter matters: scaling t and z is our own contribution.</a:t>
            </a:r>
            <a:endParaRPr lang="en-US" sz="1400" dirty="0"/>
          </a:p>
        </p:txBody>
      </p:sp>
      <p:pic>
        <p:nvPicPr>
          <p:cNvPr id="8" name="Image 2" descr="CheckCircle">    </p:cNvPr>
          <p:cNvPicPr>
            <a:picLocks noChangeAspect="1"/>
          </p:cNvPicPr>
          <p:nvPr/>
        </p:nvPicPr>
        <p:blipFill>
          <a:blip r:embed="rId3"/>
          <a:srcRect l="0" r="0" t="-262" b="-262"/>
          <a:stretch/>
        </p:blipFill>
        <p:spPr>
          <a:xfrm>
            <a:off x="812800" y="3079552"/>
            <a:ext cx="208459" cy="254000"/>
          </a:xfrm>
          <a:prstGeom prst="rect">
            <a:avLst/>
          </a:prstGeom>
        </p:spPr>
      </p:pic>
      <p:sp>
        <p:nvSpPr>
          <p:cNvPr id="9" name="Text 4"/>
          <p:cNvSpPr/>
          <p:nvPr/>
        </p:nvSpPr>
        <p:spPr>
          <a:xfrm>
            <a:off x="1135559" y="2966541"/>
            <a:ext cx="570617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4752"/>
                </a:solidFill>
                <a:latin typeface="Arial" pitchFamily="34" charset="0"/>
                <a:ea typeface="Arial" pitchFamily="34" charset="-122"/>
                <a:cs typeface="Arial" pitchFamily="34" charset="-120"/>
              </a:rPr>
              <a:t>Level with interpolation, ahead in fast contraction; the blend beats it (29.7 vs 29.2 dB).</a:t>
            </a:r>
            <a:endParaRPr lang="en-US" sz="1400" dirty="0"/>
          </a:p>
        </p:txBody>
      </p:sp>
      <p:pic>
        <p:nvPicPr>
          <p:cNvPr id="10" name="Image 3" descr="CheckCircle">    </p:cNvPr>
          <p:cNvPicPr>
            <a:picLocks noChangeAspect="1"/>
          </p:cNvPicPr>
          <p:nvPr/>
        </p:nvPicPr>
        <p:blipFill>
          <a:blip r:embed="rId4"/>
          <a:srcRect l="0" r="0" t="0" b="0"/>
          <a:stretch/>
        </p:blipFill>
        <p:spPr>
          <a:xfrm>
            <a:off x="812800" y="3548162"/>
            <a:ext cx="254000" cy="254000"/>
          </a:xfrm>
          <a:prstGeom prst="rect">
            <a:avLst/>
          </a:prstGeom>
        </p:spPr>
      </p:pic>
      <p:sp>
        <p:nvSpPr>
          <p:cNvPr id="11" name="Text 5"/>
          <p:cNvSpPr/>
          <p:nvPr/>
        </p:nvSpPr>
        <p:spPr>
          <a:xfrm>
            <a:off x="1181100" y="3555107"/>
            <a:ext cx="574843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4752"/>
                </a:solidFill>
                <a:latin typeface="Arial" pitchFamily="34" charset="0"/>
                <a:ea typeface="Arial" pitchFamily="34" charset="-122"/>
                <a:cs typeface="Arial" pitchFamily="34" charset="-120"/>
              </a:rPr>
              <a:t>One network holds the heartbeat with 16× to 86× fewer numbers.</a:t>
            </a:r>
            <a:endParaRPr lang="en-US" sz="1400" dirty="0"/>
          </a:p>
        </p:txBody>
      </p:sp>
      <p:pic>
        <p:nvPicPr>
          <p:cNvPr id="12" name="Image 4" descr="CheckCircle">    </p:cNvPr>
          <p:cNvPicPr>
            <a:picLocks noChangeAspect="1"/>
          </p:cNvPicPr>
          <p:nvPr/>
        </p:nvPicPr>
        <p:blipFill>
          <a:blip r:embed="rId5"/>
          <a:srcRect l="0" r="0" t="-43" b="-43"/>
          <a:stretch/>
        </p:blipFill>
        <p:spPr>
          <a:xfrm>
            <a:off x="812800" y="4016772"/>
            <a:ext cx="228402" cy="254000"/>
          </a:xfrm>
          <a:prstGeom prst="rect">
            <a:avLst/>
          </a:prstGeom>
        </p:spPr>
      </p:pic>
      <p:sp>
        <p:nvSpPr>
          <p:cNvPr id="13" name="Text 6"/>
          <p:cNvSpPr/>
          <p:nvPr/>
        </p:nvSpPr>
        <p:spPr>
          <a:xfrm>
            <a:off x="1155502" y="3903762"/>
            <a:ext cx="568563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4752"/>
                </a:solidFill>
                <a:latin typeface="Arial" pitchFamily="34" charset="0"/>
                <a:ea typeface="Arial" pitchFamily="34" charset="-122"/>
                <a:cs typeface="Arial" pitchFamily="34" charset="-120"/>
              </a:rPr>
              <a:t>A continuous 4D heart whose ejection fraction is within 5 points of the experts.</a:t>
            </a:r>
            <a:endParaRPr lang="en-US" sz="1400" dirty="0"/>
          </a:p>
        </p:txBody>
      </p:sp>
      <p:sp>
        <p:nvSpPr>
          <p:cNvPr id="14" name="Shape 7"/>
          <p:cNvSpPr/>
          <p:nvPr/>
        </p:nvSpPr>
        <p:spPr>
          <a:xfrm>
            <a:off x="6929537" y="1803301"/>
            <a:ext cx="4449663" cy="3063379"/>
          </a:xfrm>
          <a:prstGeom prst="roundRect">
            <a:avLst>
              <a:gd name="adj" fmla="val 3317"/>
            </a:avLst>
          </a:prstGeom>
          <a:solidFill>
            <a:srgbClr val="F4F1EC"/>
          </a:solidFill>
          <a:ln/>
        </p:spPr>
      </p:sp>
      <p:sp>
        <p:nvSpPr>
          <p:cNvPr id="15" name="Text 8"/>
          <p:cNvSpPr/>
          <p:nvPr/>
        </p:nvSpPr>
        <p:spPr>
          <a:xfrm>
            <a:off x="7132737" y="2006501"/>
            <a:ext cx="41645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A1F"/>
                </a:solidFill>
                <a:latin typeface="Arial" pitchFamily="34" charset="0"/>
                <a:ea typeface="Arial" pitchFamily="34" charset="-122"/>
                <a:cs typeface="Arial" pitchFamily="34" charset="-120"/>
              </a:rPr>
              <a:t>Limits</a:t>
            </a:r>
            <a:endParaRPr lang="en-US" sz="1600" dirty="0"/>
          </a:p>
        </p:txBody>
      </p:sp>
      <p:sp>
        <p:nvSpPr>
          <p:cNvPr id="16" name="Text 9"/>
          <p:cNvSpPr/>
          <p:nvPr/>
        </p:nvSpPr>
        <p:spPr>
          <a:xfrm>
            <a:off x="7230781" y="2351881"/>
            <a:ext cx="4058897" cy="982662"/>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4B4752"/>
                </a:solidFill>
                <a:latin typeface="Arial" pitchFamily="34" charset="0"/>
                <a:ea typeface="Arial" pitchFamily="34" charset="-122"/>
                <a:cs typeface="Arial" pitchFamily="34" charset="-120"/>
              </a:rPr>
              <a:t>One main patient and one check patient.</a:t>
            </a:r>
            <a:endParaRPr lang="en-US" sz="1300" dirty="0"/>
          </a:p>
          <a:p>
            <a:pPr algn="l" marL="155956" indent="-155956">
              <a:lnSpc>
                <a:spcPts val="1885"/>
              </a:lnSpc>
              <a:buSzPct val="100000"/>
              <a:buChar char="•"/>
            </a:pPr>
            <a:r>
              <a:rPr lang="en-US" sz="1300" dirty="0">
                <a:solidFill>
                  <a:srgbClr val="4B4752"/>
                </a:solidFill>
                <a:latin typeface="Arial" pitchFamily="34" charset="0"/>
                <a:ea typeface="Arial" pitchFamily="34" charset="-122"/>
                <a:cs typeface="Arial" pitchFamily="34" charset="-120"/>
              </a:rPr>
              <a:t>A 20 mm slice gap is beyond any method.</a:t>
            </a:r>
            <a:endParaRPr lang="en-US" sz="1300" dirty="0"/>
          </a:p>
          <a:p>
            <a:pPr algn="l" marL="155956" indent="-155956">
              <a:lnSpc>
                <a:spcPts val="1885"/>
              </a:lnSpc>
              <a:buSzPct val="100000"/>
              <a:buChar char="•"/>
            </a:pPr>
            <a:r>
              <a:rPr lang="en-US" sz="1300" dirty="0">
                <a:solidFill>
                  <a:srgbClr val="4B4752"/>
                </a:solidFill>
                <a:latin typeface="Arial" pitchFamily="34" charset="0"/>
                <a:ea typeface="Arial" pitchFamily="34" charset="-122"/>
                <a:cs typeface="Arial" pitchFamily="34" charset="-120"/>
              </a:rPr>
              <a:t>On average interpolation is still 0.4 dB ahead.</a:t>
            </a:r>
            <a:endParaRPr lang="en-US" sz="1300" dirty="0"/>
          </a:p>
          <a:p>
            <a:pPr algn="l" marL="155956" indent="-155956">
              <a:lnSpc>
                <a:spcPts val="1885"/>
              </a:lnSpc>
              <a:buSzPct val="100000"/>
              <a:buChar char="•"/>
            </a:pPr>
            <a:r>
              <a:rPr lang="en-US" sz="1300" dirty="0">
                <a:solidFill>
                  <a:srgbClr val="4B4752"/>
                </a:solidFill>
                <a:latin typeface="Arial" pitchFamily="34" charset="0"/>
                <a:ea typeface="Arial" pitchFamily="34" charset="-122"/>
                <a:cs typeface="Arial" pitchFamily="34" charset="-120"/>
              </a:rPr>
              <a:t>About 25 minutes of CPU training per patient.</a:t>
            </a:r>
            <a:endParaRPr lang="en-US" sz="1300" dirty="0"/>
          </a:p>
        </p:txBody>
      </p:sp>
      <p:sp>
        <p:nvSpPr>
          <p:cNvPr id="17" name="Shape 10"/>
          <p:cNvSpPr/>
          <p:nvPr/>
        </p:nvSpPr>
        <p:spPr>
          <a:xfrm>
            <a:off x="812800" y="5120680"/>
            <a:ext cx="10566400" cy="721320"/>
          </a:xfrm>
          <a:prstGeom prst="roundRect">
            <a:avLst>
              <a:gd name="adj" fmla="val 12325"/>
            </a:avLst>
          </a:prstGeom>
          <a:solidFill>
            <a:srgbClr val="1C1A1F"/>
          </a:solidFill>
          <a:ln/>
        </p:spPr>
      </p:sp>
      <p:sp>
        <p:nvSpPr>
          <p:cNvPr id="18" name="Text 11"/>
          <p:cNvSpPr/>
          <p:nvPr/>
        </p:nvSpPr>
        <p:spPr>
          <a:xfrm>
            <a:off x="1041400" y="5285780"/>
            <a:ext cx="392632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8E1"/>
                </a:solidFill>
                <a:latin typeface="Georgia" pitchFamily="18" charset="0"/>
                <a:ea typeface="Georgia" pitchFamily="18" charset="-122"/>
                <a:cs typeface="Georgia" pitchFamily="18" charset="-120"/>
              </a:rPr>
              <a:t>Thank you. Questions?</a:t>
            </a:r>
            <a:endParaRPr lang="en-US" sz="2200" dirty="0"/>
          </a:p>
        </p:txBody>
      </p:sp>
      <p:sp>
        <p:nvSpPr>
          <p:cNvPr id="19" name="Text 12"/>
          <p:cNvSpPr/>
          <p:nvPr/>
        </p:nvSpPr>
        <p:spPr>
          <a:xfrm>
            <a:off x="6751598" y="5365750"/>
            <a:ext cx="4399002"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9B2A8"/>
                </a:solidFill>
                <a:latin typeface="Courier New" pitchFamily="49" charset="0"/>
                <a:ea typeface="Courier New" pitchFamily="49" charset="-122"/>
                <a:cs typeface="Courier New" pitchFamily="49" charset="-120"/>
              </a:rPr>
              <a:t>github.com/ultralightbeat/cardiac-inr</a:t>
            </a:r>
            <a:endParaRPr lang="en-US" sz="1300" dirty="0"/>
          </a:p>
        </p:txBody>
      </p:sp>
      <p:sp>
        <p:nvSpPr>
          <p:cNvPr id="20"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570"/>
                </a:solidFill>
                <a:latin typeface="Arial" pitchFamily="34" charset="0"/>
                <a:ea typeface="Arial" pitchFamily="34" charset="-122"/>
                <a:cs typeface="Arial" pitchFamily="34" charset="-120"/>
              </a:rPr>
              <a:t>Group 4 · Neural Fields for Continuous Cardiac Cine‑MRI</a:t>
            </a:r>
            <a:endParaRPr lang="en-US" sz="1200" dirty="0"/>
          </a:p>
        </p:txBody>
      </p:sp>
      <p:sp>
        <p:nvSpPr>
          <p:cNvPr id="21" name="Text 1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6570"/>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theme/theme1.xml><?xml version="1.0" encoding="utf-8"?>
<a:theme xmlns:a="http://schemas.openxmlformats.org/drawingml/2006/main" name="Neural Fields for Continuous Cardiac Cine-MRI — Final">
  <a:themeElements>
    <a:clrScheme name="Neural Fields for Continuous Cardiac Cine-MRI — Final">
      <a:dk1>
        <a:srgbClr val="1C1A1F"/>
      </a:dk1>
      <a:lt1>
        <a:srgbClr val="F4F1EC"/>
      </a:lt1>
      <a:dk2>
        <a:srgbClr val="525052"/>
      </a:dk2>
      <a:lt2>
        <a:srgbClr val="DEDCD8"/>
      </a:lt2>
      <a:accent1>
        <a:srgbClr val="B8322A"/>
      </a:accent1>
      <a:accent2>
        <a:srgbClr val="E8735F"/>
      </a:accent2>
      <a:accent3>
        <a:srgbClr val="2F6690"/>
      </a:accent3>
      <a:accent4>
        <a:srgbClr val="6A6570"/>
      </a:accent4>
      <a:accent5>
        <a:srgbClr val="4B4752"/>
      </a:accent5>
      <a:accent6>
        <a:srgbClr val="C9C2B8"/>
      </a:accent6>
      <a:hlink>
        <a:srgbClr val="0563C1"/>
      </a:hlink>
      <a:folHlink>
        <a:srgbClr val="954F72"/>
      </a:folHlink>
    </a:clrScheme>
    <a:fontScheme name="Neural Fields for Continuous Cardiac Cine-MRI — Fina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Fields for Continuous Cardiac Cine-MRI — Final</dc:title>
  <dc:subject/>
  <dc:creator/>
  <cp:lastModifiedBy/>
  <cp:revision>1</cp:revision>
  <dcterms:created xsi:type="dcterms:W3CDTF">2026-10-27T01:23:50Z</dcterms:created>
  <dcterms:modified xsi:type="dcterms:W3CDTF">2026-10-27T01:23:50Z</dcterms:modified>
</cp:coreProperties>
</file>